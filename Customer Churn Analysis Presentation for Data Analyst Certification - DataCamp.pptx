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9" r:id="rId3"/>
    <p:sldId id="277" r:id="rId4"/>
    <p:sldId id="282" r:id="rId5"/>
    <p:sldId id="275" r:id="rId6"/>
    <p:sldId id="274" r:id="rId7"/>
    <p:sldId id="272" r:id="rId8"/>
    <p:sldId id="276" r:id="rId9"/>
    <p:sldId id="280" r:id="rId10"/>
    <p:sldId id="281"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59" autoAdjust="0"/>
    <p:restoredTop sz="94343" autoAdjust="0"/>
  </p:normalViewPr>
  <p:slideViewPr>
    <p:cSldViewPr snapToGrid="0" snapToObjects="1">
      <p:cViewPr varScale="1">
        <p:scale>
          <a:sx n="73" d="100"/>
          <a:sy n="73" d="100"/>
        </p:scale>
        <p:origin x="123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3B4D54-C6C2-400F-A4C4-CDC677221DF9}" type="datetimeFigureOut">
              <a:rPr lang="en-US" smtClean="0"/>
              <a:t>2/2/2026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0087E3-F201-46AE-9BCD-FC993BC35B3B}" type="slidenum">
              <a:rPr lang="en-US" smtClean="0"/>
              <a:t>‹#›</a:t>
            </a:fld>
            <a:endParaRPr lang="en-US"/>
          </a:p>
        </p:txBody>
      </p:sp>
    </p:spTree>
    <p:extLst>
      <p:ext uri="{BB962C8B-B14F-4D97-AF65-F5344CB8AC3E}">
        <p14:creationId xmlns:p14="http://schemas.microsoft.com/office/powerpoint/2010/main" val="4260238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start, here’s the executive summary of our churn analysis. We found that churn is heavily concentrated among Free-tier users, with 41% leaving within the first month. The main drivers are low engagement and longer support resolution times. By focusing on early engagement, re-engagement strategies, and improving support efficiency, we have a clear path to improving retention across our customer base.</a:t>
            </a:r>
            <a:endParaRPr lang="en-US" dirty="0"/>
          </a:p>
        </p:txBody>
      </p:sp>
      <p:sp>
        <p:nvSpPr>
          <p:cNvPr id="4" name="Slide Number Placeholder 3"/>
          <p:cNvSpPr>
            <a:spLocks noGrp="1"/>
          </p:cNvSpPr>
          <p:nvPr>
            <p:ph type="sldNum" sz="quarter" idx="10"/>
          </p:nvPr>
        </p:nvSpPr>
        <p:spPr/>
        <p:txBody>
          <a:bodyPr/>
          <a:lstStyle/>
          <a:p>
            <a:fld id="{6F0087E3-F201-46AE-9BCD-FC993BC35B3B}" type="slidenum">
              <a:rPr lang="en-US" smtClean="0"/>
              <a:t>1</a:t>
            </a:fld>
            <a:endParaRPr lang="en-US"/>
          </a:p>
        </p:txBody>
      </p:sp>
    </p:spTree>
    <p:extLst>
      <p:ext uri="{BB962C8B-B14F-4D97-AF65-F5344CB8AC3E}">
        <p14:creationId xmlns:p14="http://schemas.microsoft.com/office/powerpoint/2010/main" val="1754814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primary purpose of this project is to identify the key factors driving customer churn, so we can design data-driven strategies to retain customers and improve service quality. Specifically, we examine which subscription tiers experience the highest churn, how user engagement behaviors relate to churn risk, and whether slower support resolution times are associated with higher customer attrition. These questions guide both our analysis and our recommendations</a:t>
            </a:r>
            <a:endParaRPr lang="en-US" dirty="0" smtClean="0"/>
          </a:p>
        </p:txBody>
      </p:sp>
      <p:sp>
        <p:nvSpPr>
          <p:cNvPr id="4" name="Slide Number Placeholder 3"/>
          <p:cNvSpPr>
            <a:spLocks noGrp="1"/>
          </p:cNvSpPr>
          <p:nvPr>
            <p:ph type="sldNum" sz="quarter" idx="10"/>
          </p:nvPr>
        </p:nvSpPr>
        <p:spPr/>
        <p:txBody>
          <a:bodyPr/>
          <a:lstStyle/>
          <a:p>
            <a:fld id="{6F0087E3-F201-46AE-9BCD-FC993BC35B3B}" type="slidenum">
              <a:rPr lang="en-US" smtClean="0"/>
              <a:t>2</a:t>
            </a:fld>
            <a:endParaRPr lang="en-US"/>
          </a:p>
        </p:txBody>
      </p:sp>
    </p:spTree>
    <p:extLst>
      <p:ext uri="{BB962C8B-B14F-4D97-AF65-F5344CB8AC3E}">
        <p14:creationId xmlns:p14="http://schemas.microsoft.com/office/powerpoint/2010/main" val="6815249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Currently, we track churn rate and support efficiency as outcome metrics. From our event data, we’ve derived key leading indicators: total events, active days, and Days Since Last Activity (DSLA). Total events measures engagement intensity, active days tracks consistency over time, and DSLA identifies users who have been inactive and could be at risk of churn. In the future, once re-engagement campaigns are implemented, we can track re-engagement rate and ongoing engagement trends to measure the effectiveness of these interventions.</a:t>
            </a:r>
            <a:endParaRPr lang="en-US" dirty="0"/>
          </a:p>
        </p:txBody>
      </p:sp>
      <p:sp>
        <p:nvSpPr>
          <p:cNvPr id="4" name="Slide Number Placeholder 3"/>
          <p:cNvSpPr>
            <a:spLocks noGrp="1"/>
          </p:cNvSpPr>
          <p:nvPr>
            <p:ph type="sldNum" sz="quarter" idx="10"/>
          </p:nvPr>
        </p:nvSpPr>
        <p:spPr/>
        <p:txBody>
          <a:bodyPr/>
          <a:lstStyle/>
          <a:p>
            <a:fld id="{6F0087E3-F201-46AE-9BCD-FC993BC35B3B}" type="slidenum">
              <a:rPr lang="en-US" smtClean="0"/>
              <a:t>3</a:t>
            </a:fld>
            <a:endParaRPr lang="en-US"/>
          </a:p>
        </p:txBody>
      </p:sp>
    </p:spTree>
    <p:extLst>
      <p:ext uri="{BB962C8B-B14F-4D97-AF65-F5344CB8AC3E}">
        <p14:creationId xmlns:p14="http://schemas.microsoft.com/office/powerpoint/2010/main" val="2226272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analysis is based on three primary data sources: account data, user activity event logs, and customer support data. We first cleaned and validated the data, combining all sources into a single user-level dataset and ensuring consistency across user IDs. From the activity data, we engineered key engagement metrics such as total events, active days, and Days Since Last Activity, alongside support efficiency metrics. Finally, we analyzed churn rates by plan and examined how engagement and support factors are associated with churn.</a:t>
            </a:r>
            <a:endParaRPr lang="en-US" dirty="0"/>
          </a:p>
        </p:txBody>
      </p:sp>
      <p:sp>
        <p:nvSpPr>
          <p:cNvPr id="4" name="Slide Number Placeholder 3"/>
          <p:cNvSpPr>
            <a:spLocks noGrp="1"/>
          </p:cNvSpPr>
          <p:nvPr>
            <p:ph type="sldNum" sz="quarter" idx="10"/>
          </p:nvPr>
        </p:nvSpPr>
        <p:spPr/>
        <p:txBody>
          <a:bodyPr/>
          <a:lstStyle/>
          <a:p>
            <a:fld id="{6F0087E3-F201-46AE-9BCD-FC993BC35B3B}" type="slidenum">
              <a:rPr lang="en-US" smtClean="0"/>
              <a:t>4</a:t>
            </a:fld>
            <a:endParaRPr lang="en-US"/>
          </a:p>
        </p:txBody>
      </p:sp>
    </p:spTree>
    <p:extLst>
      <p:ext uri="{BB962C8B-B14F-4D97-AF65-F5344CB8AC3E}">
        <p14:creationId xmlns:p14="http://schemas.microsoft.com/office/powerpoint/2010/main" val="41628298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Churn is heavily concentrated in the Free tier. Users who only engage once have an extremely high churn rate of around 46%, suggesting that many users fail to reach an initial value moment. In contrast, paid users churn at roughly half that rate, which points to stronger perceived value, higher engagement, or a better overall support experience</a:t>
            </a:r>
          </a:p>
        </p:txBody>
      </p:sp>
      <p:sp>
        <p:nvSpPr>
          <p:cNvPr id="4" name="Slide Number Placeholder 3"/>
          <p:cNvSpPr>
            <a:spLocks noGrp="1"/>
          </p:cNvSpPr>
          <p:nvPr>
            <p:ph type="sldNum" sz="quarter" idx="10"/>
          </p:nvPr>
        </p:nvSpPr>
        <p:spPr/>
        <p:txBody>
          <a:bodyPr/>
          <a:lstStyle/>
          <a:p>
            <a:fld id="{6F0087E3-F201-46AE-9BCD-FC993BC35B3B}" type="slidenum">
              <a:rPr lang="en-US" smtClean="0"/>
              <a:t>5</a:t>
            </a:fld>
            <a:endParaRPr lang="en-US"/>
          </a:p>
        </p:txBody>
      </p:sp>
    </p:spTree>
    <p:extLst>
      <p:ext uri="{BB962C8B-B14F-4D97-AF65-F5344CB8AC3E}">
        <p14:creationId xmlns:p14="http://schemas.microsoft.com/office/powerpoint/2010/main" val="3371156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Interestingly, churn is not driven by how often users contact support, but by how long it takes to resolve their issues. Across all subscription tiers, churned users experience longer resolution times than retained users. This is especially pronounced among Free-tier and inactive users, who face the longest delays. These findings suggest that support speed, not volume, is a key driver of churn</a:t>
            </a:r>
            <a:endParaRPr lang="en-US" dirty="0"/>
          </a:p>
        </p:txBody>
      </p:sp>
      <p:sp>
        <p:nvSpPr>
          <p:cNvPr id="4" name="Slide Number Placeholder 3"/>
          <p:cNvSpPr>
            <a:spLocks noGrp="1"/>
          </p:cNvSpPr>
          <p:nvPr>
            <p:ph type="sldNum" sz="quarter" idx="10"/>
          </p:nvPr>
        </p:nvSpPr>
        <p:spPr/>
        <p:txBody>
          <a:bodyPr/>
          <a:lstStyle/>
          <a:p>
            <a:fld id="{6F0087E3-F201-46AE-9BCD-FC993BC35B3B}" type="slidenum">
              <a:rPr lang="en-US" smtClean="0"/>
              <a:t>6</a:t>
            </a:fld>
            <a:endParaRPr lang="en-US"/>
          </a:p>
        </p:txBody>
      </p:sp>
    </p:spTree>
    <p:extLst>
      <p:ext uri="{BB962C8B-B14F-4D97-AF65-F5344CB8AC3E}">
        <p14:creationId xmlns:p14="http://schemas.microsoft.com/office/powerpoint/2010/main" val="3278732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Engagement is one of the strongest predictors of retention. Retained users are significantly more active, generating roughly four times as many events as churned users. As engagement increases, churn drops sharply, suggesting that early and sustained interaction with the product is critical to keeping users retained</a:t>
            </a:r>
          </a:p>
        </p:txBody>
      </p:sp>
      <p:sp>
        <p:nvSpPr>
          <p:cNvPr id="4" name="Slide Number Placeholder 3"/>
          <p:cNvSpPr>
            <a:spLocks noGrp="1"/>
          </p:cNvSpPr>
          <p:nvPr>
            <p:ph type="sldNum" sz="quarter" idx="10"/>
          </p:nvPr>
        </p:nvSpPr>
        <p:spPr/>
        <p:txBody>
          <a:bodyPr/>
          <a:lstStyle/>
          <a:p>
            <a:fld id="{6F0087E3-F201-46AE-9BCD-FC993BC35B3B}" type="slidenum">
              <a:rPr lang="en-US" smtClean="0"/>
              <a:t>7</a:t>
            </a:fld>
            <a:endParaRPr lang="en-US"/>
          </a:p>
        </p:txBody>
      </p:sp>
    </p:spTree>
    <p:extLst>
      <p:ext uri="{BB962C8B-B14F-4D97-AF65-F5344CB8AC3E}">
        <p14:creationId xmlns:p14="http://schemas.microsoft.com/office/powerpoint/2010/main" val="27224485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When we look at inactivity, the pattern is very clear. Churned users stop engaging much earlier than retained users. On average, churned users are inactive for around 86 days compared to 54 days for retained users. This gap shows that prolonged inactivity is not just correlated with churn—it is an early warning signal that allows for proactive intervention.</a:t>
            </a:r>
            <a:endParaRPr lang="en-US" dirty="0"/>
          </a:p>
        </p:txBody>
      </p:sp>
      <p:sp>
        <p:nvSpPr>
          <p:cNvPr id="4" name="Slide Number Placeholder 3"/>
          <p:cNvSpPr>
            <a:spLocks noGrp="1"/>
          </p:cNvSpPr>
          <p:nvPr>
            <p:ph type="sldNum" sz="quarter" idx="10"/>
          </p:nvPr>
        </p:nvSpPr>
        <p:spPr/>
        <p:txBody>
          <a:bodyPr/>
          <a:lstStyle/>
          <a:p>
            <a:fld id="{6F0087E3-F201-46AE-9BCD-FC993BC35B3B}" type="slidenum">
              <a:rPr lang="en-US" smtClean="0"/>
              <a:t>8</a:t>
            </a:fld>
            <a:endParaRPr lang="en-US"/>
          </a:p>
        </p:txBody>
      </p:sp>
    </p:spTree>
    <p:extLst>
      <p:ext uri="{BB962C8B-B14F-4D97-AF65-F5344CB8AC3E}">
        <p14:creationId xmlns:p14="http://schemas.microsoft.com/office/powerpoint/2010/main" val="1605093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These four recommendations directly address the key drivers we identified. We suggest implementing an early-warning system for inactivity, strengthening early engagement, prioritizing support for at-risk users, and aligning teams around shared engagement metrics. </a:t>
            </a:r>
            <a:endParaRPr lang="en-US" dirty="0"/>
          </a:p>
        </p:txBody>
      </p:sp>
      <p:sp>
        <p:nvSpPr>
          <p:cNvPr id="4" name="Slide Number Placeholder 3"/>
          <p:cNvSpPr>
            <a:spLocks noGrp="1"/>
          </p:cNvSpPr>
          <p:nvPr>
            <p:ph type="sldNum" sz="quarter" idx="10"/>
          </p:nvPr>
        </p:nvSpPr>
        <p:spPr/>
        <p:txBody>
          <a:bodyPr/>
          <a:lstStyle/>
          <a:p>
            <a:fld id="{6F0087E3-F201-46AE-9BCD-FC993BC35B3B}" type="slidenum">
              <a:rPr lang="en-US" smtClean="0"/>
              <a:t>9</a:t>
            </a:fld>
            <a:endParaRPr lang="en-US"/>
          </a:p>
        </p:txBody>
      </p:sp>
    </p:spTree>
    <p:extLst>
      <p:ext uri="{BB962C8B-B14F-4D97-AF65-F5344CB8AC3E}">
        <p14:creationId xmlns:p14="http://schemas.microsoft.com/office/powerpoint/2010/main" val="6999356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Our analysis reveals five key takeaways. First, disengagement drives churn, with Days Since Last Activity serving as a strong early warning. Second, engagement—even modest—is protective. Third, support ticket volume does not predict churn, but fourth, support quality clearly matters, as longer resolution times are associated with churn. Finally, to reduce churn, our recommendations focus on early engagement, proactive re-engagement, and fast, high-quality support</a:t>
            </a:r>
          </a:p>
        </p:txBody>
      </p:sp>
      <p:sp>
        <p:nvSpPr>
          <p:cNvPr id="4" name="Slide Number Placeholder 3"/>
          <p:cNvSpPr>
            <a:spLocks noGrp="1"/>
          </p:cNvSpPr>
          <p:nvPr>
            <p:ph type="sldNum" sz="quarter" idx="10"/>
          </p:nvPr>
        </p:nvSpPr>
        <p:spPr/>
        <p:txBody>
          <a:bodyPr/>
          <a:lstStyle/>
          <a:p>
            <a:fld id="{6F0087E3-F201-46AE-9BCD-FC993BC35B3B}" type="slidenum">
              <a:rPr lang="en-US" smtClean="0"/>
              <a:t>10</a:t>
            </a:fld>
            <a:endParaRPr lang="en-US"/>
          </a:p>
        </p:txBody>
      </p:sp>
    </p:spTree>
    <p:extLst>
      <p:ext uri="{BB962C8B-B14F-4D97-AF65-F5344CB8AC3E}">
        <p14:creationId xmlns:p14="http://schemas.microsoft.com/office/powerpoint/2010/main" val="125397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70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142646"/>
            <a:ext cx="5098473" cy="816428"/>
          </a:xfrm>
        </p:spPr>
        <p:txBody>
          <a:bodyPr>
            <a:normAutofit/>
          </a:bodyPr>
          <a:lstStyle/>
          <a:p>
            <a:pPr algn="l"/>
            <a:r>
              <a:rPr sz="3200" b="1" dirty="0"/>
              <a:t>Customer Churn </a:t>
            </a:r>
            <a:r>
              <a:rPr sz="3200" b="1" dirty="0" smtClean="0"/>
              <a:t>Analysis</a:t>
            </a:r>
            <a:endParaRPr sz="3200" b="1" dirty="0"/>
          </a:p>
        </p:txBody>
      </p:sp>
      <p:sp>
        <p:nvSpPr>
          <p:cNvPr id="3" name="Content Placeholder 2"/>
          <p:cNvSpPr>
            <a:spLocks noGrp="1"/>
          </p:cNvSpPr>
          <p:nvPr>
            <p:ph idx="1"/>
          </p:nvPr>
        </p:nvSpPr>
        <p:spPr>
          <a:xfrm>
            <a:off x="796834" y="1070848"/>
            <a:ext cx="8083930" cy="2061071"/>
          </a:xfrm>
        </p:spPr>
        <p:txBody>
          <a:bodyPr>
            <a:normAutofit/>
          </a:bodyPr>
          <a:lstStyle/>
          <a:p>
            <a:pPr marL="0" indent="0">
              <a:buNone/>
            </a:pPr>
            <a:r>
              <a:rPr lang="en-US" b="1" cap="all" dirty="0"/>
              <a:t>Executive </a:t>
            </a:r>
            <a:r>
              <a:rPr lang="en-US" b="1" cap="all" dirty="0" smtClean="0"/>
              <a:t>Summary</a:t>
            </a:r>
          </a:p>
          <a:p>
            <a:pPr marL="0" indent="0">
              <a:buNone/>
            </a:pPr>
            <a:endParaRPr lang="en-US" sz="1800" b="1" cap="all" dirty="0" smtClean="0"/>
          </a:p>
          <a:p>
            <a:r>
              <a:rPr lang="en-US" sz="1800" dirty="0"/>
              <a:t>Churn is highest among </a:t>
            </a:r>
            <a:r>
              <a:rPr lang="en-US" sz="1800" b="1" dirty="0"/>
              <a:t>Free-tier users (41</a:t>
            </a:r>
            <a:r>
              <a:rPr lang="en-US" sz="1800" b="1" dirty="0" smtClean="0"/>
              <a:t>%)</a:t>
            </a:r>
            <a:r>
              <a:rPr lang="en-US" sz="1800" dirty="0" smtClean="0"/>
              <a:t>.</a:t>
            </a:r>
          </a:p>
          <a:p>
            <a:r>
              <a:rPr lang="en-US" sz="1800" b="1" dirty="0"/>
              <a:t>Low engagement</a:t>
            </a:r>
            <a:r>
              <a:rPr lang="en-US" sz="1800" dirty="0"/>
              <a:t> and </a:t>
            </a:r>
            <a:r>
              <a:rPr lang="en-US" sz="1800" b="1" dirty="0"/>
              <a:t>slower support resolution</a:t>
            </a:r>
            <a:r>
              <a:rPr lang="en-US" sz="1800" dirty="0"/>
              <a:t> drive churn</a:t>
            </a:r>
            <a:r>
              <a:rPr lang="en-US" sz="1800" dirty="0" smtClean="0"/>
              <a:t>.</a:t>
            </a:r>
          </a:p>
          <a:p>
            <a:r>
              <a:rPr lang="en-US" sz="1800" b="1" dirty="0"/>
              <a:t>Early engagement, re-engagement, and faster support</a:t>
            </a:r>
            <a:r>
              <a:rPr lang="en-US" sz="1800" dirty="0"/>
              <a:t> can improve retention.</a:t>
            </a:r>
            <a:endParaRPr lang="en-US" sz="1800" b="1" cap="all" dirty="0"/>
          </a:p>
        </p:txBody>
      </p:sp>
      <p:sp>
        <p:nvSpPr>
          <p:cNvPr id="4" name="Rectangle 3"/>
          <p:cNvSpPr/>
          <p:nvPr/>
        </p:nvSpPr>
        <p:spPr>
          <a:xfrm>
            <a:off x="0" y="6126163"/>
            <a:ext cx="9144000" cy="731837"/>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en-US" dirty="0" smtClean="0"/>
              <a:t>     Presented by: Tarek Dib			</a:t>
            </a:r>
            <a:r>
              <a:rPr lang="en-US" dirty="0"/>
              <a:t>	</a:t>
            </a:r>
            <a:r>
              <a:rPr lang="en-US" dirty="0" smtClean="0"/>
              <a:t>02/5/2026				For Senior Leadership </a:t>
            </a:r>
            <a:endParaRPr lang="en-US" dirty="0"/>
          </a:p>
        </p:txBody>
      </p:sp>
      <p:sp>
        <p:nvSpPr>
          <p:cNvPr id="5" name="Title 1"/>
          <p:cNvSpPr txBox="1">
            <a:spLocks/>
          </p:cNvSpPr>
          <p:nvPr/>
        </p:nvSpPr>
        <p:spPr>
          <a:xfrm>
            <a:off x="7236823" y="215538"/>
            <a:ext cx="1907177" cy="59288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1800" b="1" dirty="0" smtClean="0">
                <a:solidFill>
                  <a:schemeClr val="accent1"/>
                </a:solidFill>
              </a:rPr>
              <a:t>FITLY ANALYTICS</a:t>
            </a:r>
            <a:endParaRPr lang="en-US" sz="1800" b="1" dirty="0">
              <a:solidFill>
                <a:schemeClr val="accent1"/>
              </a:solidFill>
            </a:endParaRPr>
          </a:p>
        </p:txBody>
      </p:sp>
      <p:sp>
        <p:nvSpPr>
          <p:cNvPr id="8" name="Rectangle 7"/>
          <p:cNvSpPr/>
          <p:nvPr/>
        </p:nvSpPr>
        <p:spPr>
          <a:xfrm>
            <a:off x="6884127" y="327312"/>
            <a:ext cx="378822" cy="369332"/>
          </a:xfrm>
          <a:prstGeom prst="rect">
            <a:avLst/>
          </a:prstGeom>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t>📈</a:t>
            </a:r>
          </a:p>
        </p:txBody>
      </p:sp>
      <p:cxnSp>
        <p:nvCxnSpPr>
          <p:cNvPr id="15" name="Straight Connector 14"/>
          <p:cNvCxnSpPr/>
          <p:nvPr/>
        </p:nvCxnSpPr>
        <p:spPr>
          <a:xfrm flipH="1">
            <a:off x="644434" y="1211679"/>
            <a:ext cx="0" cy="1920240"/>
          </a:xfrm>
          <a:prstGeom prst="line">
            <a:avLst/>
          </a:prstGeom>
          <a:ln w="63500"/>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46167" y="178111"/>
            <a:ext cx="6082145" cy="593778"/>
          </a:xfrm>
        </p:spPr>
        <p:txBody>
          <a:bodyPr>
            <a:normAutofit/>
          </a:bodyPr>
          <a:lstStyle/>
          <a:p>
            <a:pPr algn="l"/>
            <a:r>
              <a:rPr lang="en-US" sz="3200" b="1" dirty="0"/>
              <a:t>Project Overview &amp; Business Goals</a:t>
            </a:r>
            <a:endParaRPr sz="3200" b="1" dirty="0"/>
          </a:p>
        </p:txBody>
      </p:sp>
      <p:sp>
        <p:nvSpPr>
          <p:cNvPr id="3" name="Content Placeholder 2"/>
          <p:cNvSpPr>
            <a:spLocks noGrp="1"/>
          </p:cNvSpPr>
          <p:nvPr>
            <p:ph sz="half" idx="1"/>
          </p:nvPr>
        </p:nvSpPr>
        <p:spPr>
          <a:xfrm>
            <a:off x="346167" y="951746"/>
            <a:ext cx="8686800" cy="1154146"/>
          </a:xfrm>
        </p:spPr>
        <p:txBody>
          <a:bodyPr>
            <a:normAutofit/>
          </a:bodyPr>
          <a:lstStyle/>
          <a:p>
            <a:pPr marL="0" indent="0">
              <a:buNone/>
            </a:pPr>
            <a:r>
              <a:rPr lang="en-US" sz="2400" b="1" dirty="0" smtClean="0">
                <a:solidFill>
                  <a:schemeClr val="accent1"/>
                </a:solidFill>
              </a:rPr>
              <a:t>◎ Primary Purpose</a:t>
            </a:r>
          </a:p>
          <a:p>
            <a:pPr marL="0" indent="0">
              <a:buNone/>
            </a:pPr>
            <a:r>
              <a:rPr lang="en-US" sz="2000" dirty="0"/>
              <a:t>Identify factors associated with customer churn to inform data-driven strategies for improving retention and service </a:t>
            </a:r>
            <a:r>
              <a:rPr lang="en-US" sz="2000" dirty="0" smtClean="0"/>
              <a:t>quality.</a:t>
            </a:r>
            <a:endParaRPr lang="en-US" sz="2000" dirty="0"/>
          </a:p>
        </p:txBody>
      </p:sp>
      <p:sp>
        <p:nvSpPr>
          <p:cNvPr id="5" name="Title 1"/>
          <p:cNvSpPr txBox="1">
            <a:spLocks/>
          </p:cNvSpPr>
          <p:nvPr/>
        </p:nvSpPr>
        <p:spPr>
          <a:xfrm>
            <a:off x="7236823" y="178111"/>
            <a:ext cx="1907177" cy="59288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1800" b="1" dirty="0" smtClean="0">
                <a:solidFill>
                  <a:schemeClr val="accent1"/>
                </a:solidFill>
              </a:rPr>
              <a:t>FITLY ANALYTICS</a:t>
            </a:r>
            <a:endParaRPr lang="en-US" sz="1800" b="1" dirty="0">
              <a:solidFill>
                <a:schemeClr val="accent1"/>
              </a:solidFill>
            </a:endParaRPr>
          </a:p>
        </p:txBody>
      </p:sp>
      <p:sp>
        <p:nvSpPr>
          <p:cNvPr id="8" name="Rectangle 7"/>
          <p:cNvSpPr/>
          <p:nvPr/>
        </p:nvSpPr>
        <p:spPr>
          <a:xfrm>
            <a:off x="6884127" y="289885"/>
            <a:ext cx="378822" cy="369332"/>
          </a:xfrm>
          <a:prstGeom prst="rect">
            <a:avLst/>
          </a:prstGeom>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t>📈</a:t>
            </a:r>
          </a:p>
        </p:txBody>
      </p:sp>
      <p:sp>
        <p:nvSpPr>
          <p:cNvPr id="7" name="TextBox 6"/>
          <p:cNvSpPr txBox="1"/>
          <p:nvPr/>
        </p:nvSpPr>
        <p:spPr>
          <a:xfrm>
            <a:off x="457199" y="2285749"/>
            <a:ext cx="8177349" cy="1554480"/>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spAutoFit/>
          </a:bodyPr>
          <a:lstStyle/>
          <a:p>
            <a:pPr>
              <a:lnSpc>
                <a:spcPct val="90000"/>
              </a:lnSpc>
              <a:spcBef>
                <a:spcPct val="20000"/>
              </a:spcBef>
            </a:pPr>
            <a:r>
              <a:rPr lang="en-US" sz="2000" b="1" dirty="0">
                <a:solidFill>
                  <a:schemeClr val="accent3">
                    <a:lumMod val="75000"/>
                  </a:schemeClr>
                </a:solidFill>
              </a:rPr>
              <a:t>🎯</a:t>
            </a:r>
            <a:r>
              <a:rPr lang="en-US" sz="2000" b="1" dirty="0">
                <a:solidFill>
                  <a:schemeClr val="accent1"/>
                </a:solidFill>
              </a:rPr>
              <a:t> </a:t>
            </a:r>
            <a:r>
              <a:rPr lang="en-US" sz="2000" b="1" dirty="0"/>
              <a:t>Business </a:t>
            </a:r>
            <a:r>
              <a:rPr lang="en-US" sz="2000" b="1" dirty="0" smtClean="0"/>
              <a:t>Goals</a:t>
            </a:r>
            <a:endParaRPr lang="en-US" sz="2000" b="1" dirty="0"/>
          </a:p>
          <a:p>
            <a:endParaRPr lang="en-US" sz="1000" dirty="0" smtClean="0"/>
          </a:p>
          <a:p>
            <a:r>
              <a:rPr lang="en-US" sz="2000" b="1" dirty="0">
                <a:solidFill>
                  <a:schemeClr val="accent3">
                    <a:lumMod val="75000"/>
                  </a:schemeClr>
                </a:solidFill>
              </a:rPr>
              <a:t>&gt;</a:t>
            </a:r>
            <a:r>
              <a:rPr lang="en-US" dirty="0"/>
              <a:t> </a:t>
            </a:r>
            <a:r>
              <a:rPr lang="en-US" dirty="0" smtClean="0"/>
              <a:t>Reduce </a:t>
            </a:r>
            <a:r>
              <a:rPr lang="en-US" dirty="0"/>
              <a:t>monthly churn, with a focus on high-risk Free-tier users</a:t>
            </a:r>
            <a:r>
              <a:rPr lang="en-US" dirty="0" smtClean="0"/>
              <a:t>.</a:t>
            </a:r>
            <a:r>
              <a:rPr lang="en-US" dirty="0"/>
              <a:t/>
            </a:r>
            <a:br>
              <a:rPr lang="en-US" dirty="0"/>
            </a:br>
            <a:r>
              <a:rPr lang="en-US" sz="2000" b="1" dirty="0">
                <a:solidFill>
                  <a:schemeClr val="accent3">
                    <a:lumMod val="75000"/>
                  </a:schemeClr>
                </a:solidFill>
              </a:rPr>
              <a:t>&gt;</a:t>
            </a:r>
            <a:r>
              <a:rPr lang="en-US" dirty="0" smtClean="0"/>
              <a:t> Improve </a:t>
            </a:r>
            <a:r>
              <a:rPr lang="en-US" dirty="0"/>
              <a:t>early user engagement to support long-term retention</a:t>
            </a:r>
            <a:r>
              <a:rPr lang="en-US" dirty="0" smtClean="0"/>
              <a:t>.</a:t>
            </a:r>
            <a:r>
              <a:rPr lang="en-US" dirty="0"/>
              <a:t/>
            </a:r>
            <a:br>
              <a:rPr lang="en-US" dirty="0"/>
            </a:br>
            <a:r>
              <a:rPr lang="en-US" sz="2000" b="1" dirty="0">
                <a:solidFill>
                  <a:schemeClr val="accent3">
                    <a:lumMod val="75000"/>
                  </a:schemeClr>
                </a:solidFill>
              </a:rPr>
              <a:t>&gt;</a:t>
            </a:r>
            <a:r>
              <a:rPr lang="en-US" dirty="0" smtClean="0"/>
              <a:t> Identify </a:t>
            </a:r>
            <a:r>
              <a:rPr lang="en-US" dirty="0"/>
              <a:t>leading indicators for ongoing churn monitoring.</a:t>
            </a:r>
            <a:endParaRPr lang="en-US" dirty="0"/>
          </a:p>
        </p:txBody>
      </p:sp>
      <p:sp>
        <p:nvSpPr>
          <p:cNvPr id="13" name="TextBox 12"/>
          <p:cNvSpPr txBox="1"/>
          <p:nvPr/>
        </p:nvSpPr>
        <p:spPr>
          <a:xfrm>
            <a:off x="457200" y="4163076"/>
            <a:ext cx="8177348" cy="1463040"/>
          </a:xfrm>
          <a:prstGeom prst="rect">
            <a:avLst/>
          </a:prstGeom>
          <a:ln/>
        </p:spPr>
        <p:style>
          <a:lnRef idx="1">
            <a:schemeClr val="accent5"/>
          </a:lnRef>
          <a:fillRef idx="2">
            <a:schemeClr val="accent5"/>
          </a:fillRef>
          <a:effectRef idx="1">
            <a:schemeClr val="accent5"/>
          </a:effectRef>
          <a:fontRef idx="minor">
            <a:schemeClr val="dk1"/>
          </a:fontRef>
        </p:style>
        <p:txBody>
          <a:bodyPr wrap="square" rtlCol="0">
            <a:spAutoFit/>
          </a:bodyPr>
          <a:lstStyle/>
          <a:p>
            <a:pPr>
              <a:lnSpc>
                <a:spcPct val="90000"/>
              </a:lnSpc>
              <a:spcBef>
                <a:spcPct val="20000"/>
              </a:spcBef>
            </a:pPr>
            <a:r>
              <a:rPr lang="en-US" sz="2000" b="1" dirty="0" smtClean="0">
                <a:solidFill>
                  <a:srgbClr val="FFC000"/>
                </a:solidFill>
              </a:rPr>
              <a:t>❓</a:t>
            </a:r>
            <a:r>
              <a:rPr lang="en-US" sz="2000" b="1" dirty="0" smtClean="0"/>
              <a:t>Key Questions</a:t>
            </a:r>
            <a:endParaRPr lang="en-US" sz="2000" b="1" dirty="0"/>
          </a:p>
          <a:p>
            <a:endParaRPr lang="en-US" sz="1000" dirty="0" smtClean="0"/>
          </a:p>
          <a:p>
            <a:r>
              <a:rPr lang="en-US" dirty="0">
                <a:solidFill>
                  <a:srgbClr val="FFC000"/>
                </a:solidFill>
              </a:rPr>
              <a:t>&gt; </a:t>
            </a:r>
            <a:r>
              <a:rPr lang="en-US" dirty="0" smtClean="0"/>
              <a:t>Which </a:t>
            </a:r>
            <a:r>
              <a:rPr lang="en-US" dirty="0"/>
              <a:t>customer segments and subscription tiers have the highest churn rates</a:t>
            </a:r>
            <a:r>
              <a:rPr lang="en-US" dirty="0" smtClean="0"/>
              <a:t>?</a:t>
            </a:r>
          </a:p>
          <a:p>
            <a:r>
              <a:rPr lang="en-US" dirty="0">
                <a:solidFill>
                  <a:srgbClr val="FFC000"/>
                </a:solidFill>
              </a:rPr>
              <a:t>&gt; </a:t>
            </a:r>
            <a:r>
              <a:rPr lang="en-US" dirty="0" smtClean="0"/>
              <a:t>Which </a:t>
            </a:r>
            <a:r>
              <a:rPr lang="en-US" dirty="0"/>
              <a:t>user behaviors are associated with higher churn risk</a:t>
            </a:r>
            <a:r>
              <a:rPr lang="en-US" dirty="0" smtClean="0"/>
              <a:t>?</a:t>
            </a:r>
          </a:p>
          <a:p>
            <a:r>
              <a:rPr lang="en-US" dirty="0">
                <a:solidFill>
                  <a:srgbClr val="FFC000"/>
                </a:solidFill>
              </a:rPr>
              <a:t>&gt; </a:t>
            </a:r>
            <a:r>
              <a:rPr lang="en-US" dirty="0"/>
              <a:t>How is support resolution time related to customer churn?</a:t>
            </a:r>
            <a:endParaRPr lang="en-US" dirty="0"/>
          </a:p>
        </p:txBody>
      </p:sp>
    </p:spTree>
    <p:extLst>
      <p:ext uri="{BB962C8B-B14F-4D97-AF65-F5344CB8AC3E}">
        <p14:creationId xmlns:p14="http://schemas.microsoft.com/office/powerpoint/2010/main" val="29722291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1"/>
          <p:cNvSpPr txBox="1">
            <a:spLocks/>
          </p:cNvSpPr>
          <p:nvPr/>
        </p:nvSpPr>
        <p:spPr>
          <a:xfrm>
            <a:off x="7236823" y="218639"/>
            <a:ext cx="1907177" cy="59288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1800" b="1" dirty="0" smtClean="0">
                <a:solidFill>
                  <a:schemeClr val="accent1"/>
                </a:solidFill>
              </a:rPr>
              <a:t>FITLY ANALYTICS</a:t>
            </a:r>
            <a:endParaRPr lang="en-US" sz="1800" b="1" dirty="0">
              <a:solidFill>
                <a:schemeClr val="accent1"/>
              </a:solidFill>
            </a:endParaRPr>
          </a:p>
        </p:txBody>
      </p:sp>
      <p:sp>
        <p:nvSpPr>
          <p:cNvPr id="8" name="Rectangle 7"/>
          <p:cNvSpPr/>
          <p:nvPr/>
        </p:nvSpPr>
        <p:spPr>
          <a:xfrm>
            <a:off x="6884127" y="330413"/>
            <a:ext cx="378822" cy="369332"/>
          </a:xfrm>
          <a:prstGeom prst="rect">
            <a:avLst/>
          </a:prstGeom>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t>📈</a:t>
            </a:r>
          </a:p>
        </p:txBody>
      </p:sp>
      <p:sp>
        <p:nvSpPr>
          <p:cNvPr id="4" name="Rectangle 3"/>
          <p:cNvSpPr/>
          <p:nvPr/>
        </p:nvSpPr>
        <p:spPr>
          <a:xfrm>
            <a:off x="2953181" y="3105835"/>
            <a:ext cx="438150" cy="646331"/>
          </a:xfrm>
          <a:prstGeom prst="rect">
            <a:avLst/>
          </a:prstGeom>
        </p:spPr>
        <p:txBody>
          <a:bodyPr wrap="square">
            <a:spAutoFit/>
          </a:bodyPr>
          <a:lstStyle/>
          <a:p>
            <a:r>
              <a:rPr lang="en-US" dirty="0"/>
              <a:t/>
            </a:r>
            <a:br>
              <a:rPr lang="en-US" dirty="0"/>
            </a:br>
            <a:endParaRPr lang="en-US" dirty="0"/>
          </a:p>
        </p:txBody>
      </p:sp>
      <p:sp>
        <p:nvSpPr>
          <p:cNvPr id="24" name="Title 1"/>
          <p:cNvSpPr txBox="1">
            <a:spLocks/>
          </p:cNvSpPr>
          <p:nvPr/>
        </p:nvSpPr>
        <p:spPr>
          <a:xfrm>
            <a:off x="285811" y="212437"/>
            <a:ext cx="5334740" cy="599082"/>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3200" b="1" dirty="0" smtClean="0">
                <a:ln/>
                <a:solidFill>
                  <a:schemeClr val="accent3"/>
                </a:solidFill>
                <a:effectLst>
                  <a:outerShdw blurRad="38100" dist="19050" dir="2700000" algn="tl" rotWithShape="0">
                    <a:schemeClr val="dk1">
                      <a:lumMod val="50000"/>
                      <a:alpha val="40000"/>
                    </a:schemeClr>
                  </a:outerShdw>
                </a:effectLst>
              </a:rPr>
              <a:t>🎯</a:t>
            </a:r>
            <a:r>
              <a:rPr lang="en-US" sz="3200" b="1" dirty="0" smtClean="0"/>
              <a:t>Key Metrics to Monitor</a:t>
            </a:r>
            <a:endParaRPr lang="en-US" sz="3200" b="1" dirty="0"/>
          </a:p>
        </p:txBody>
      </p:sp>
      <p:sp>
        <p:nvSpPr>
          <p:cNvPr id="15" name="Rectangle 14"/>
          <p:cNvSpPr/>
          <p:nvPr/>
        </p:nvSpPr>
        <p:spPr>
          <a:xfrm>
            <a:off x="324380" y="1143249"/>
            <a:ext cx="8558363" cy="4801314"/>
          </a:xfrm>
          <a:prstGeom prst="rect">
            <a:avLst/>
          </a:prstGeom>
        </p:spPr>
        <p:txBody>
          <a:bodyPr wrap="square">
            <a:spAutoFit/>
          </a:bodyPr>
          <a:lstStyle/>
          <a:p>
            <a:r>
              <a:rPr lang="en-US" b="1" dirty="0">
                <a:solidFill>
                  <a:schemeClr val="accent3"/>
                </a:solidFill>
              </a:rPr>
              <a:t>◎ Current Outcome Metrics</a:t>
            </a:r>
          </a:p>
          <a:p>
            <a:pPr marL="285750" indent="-285750">
              <a:buFont typeface="Arial" panose="020B0604020202020204" pitchFamily="34" charset="0"/>
              <a:buChar char="•"/>
            </a:pPr>
            <a:r>
              <a:rPr lang="en-US" b="1" dirty="0"/>
              <a:t>Churn Rate (%)</a:t>
            </a:r>
            <a:r>
              <a:rPr lang="en-US" dirty="0"/>
              <a:t> – % of users leaving per plan or segment.</a:t>
            </a:r>
          </a:p>
          <a:p>
            <a:pPr marL="285750" indent="-285750">
              <a:buFont typeface="Arial" panose="020B0604020202020204" pitchFamily="34" charset="0"/>
              <a:buChar char="•"/>
            </a:pPr>
            <a:r>
              <a:rPr lang="en-US" b="1" dirty="0"/>
              <a:t>Support Efficiency</a:t>
            </a:r>
            <a:r>
              <a:rPr lang="en-US" dirty="0"/>
              <a:t> – average resolution time; delays can drive churn</a:t>
            </a:r>
            <a:r>
              <a:rPr lang="en-US" dirty="0" smtClean="0"/>
              <a:t>.</a:t>
            </a:r>
          </a:p>
          <a:p>
            <a:pPr>
              <a:buFont typeface="Arial" panose="020B0604020202020204" pitchFamily="34" charset="0"/>
              <a:buChar char="•"/>
            </a:pPr>
            <a:endParaRPr lang="en-US" dirty="0"/>
          </a:p>
          <a:p>
            <a:r>
              <a:rPr lang="en-US" b="1" dirty="0">
                <a:solidFill>
                  <a:schemeClr val="accent3"/>
                </a:solidFill>
              </a:rPr>
              <a:t>◎ Current Leading Indicators (Calculated from </a:t>
            </a:r>
            <a:r>
              <a:rPr lang="en-US" b="1" dirty="0" smtClean="0">
                <a:solidFill>
                  <a:schemeClr val="accent3"/>
                </a:solidFill>
              </a:rPr>
              <a:t>User Activity </a:t>
            </a:r>
            <a:r>
              <a:rPr lang="en-US" b="1" dirty="0">
                <a:solidFill>
                  <a:schemeClr val="accent3"/>
                </a:solidFill>
              </a:rPr>
              <a:t>Data)</a:t>
            </a:r>
          </a:p>
          <a:p>
            <a:pPr marL="285750" indent="-285750">
              <a:buFont typeface="Arial" panose="020B0604020202020204" pitchFamily="34" charset="0"/>
              <a:buChar char="•"/>
            </a:pPr>
            <a:r>
              <a:rPr lang="en-US" b="1" dirty="0"/>
              <a:t>Total Events</a:t>
            </a:r>
            <a:r>
              <a:rPr lang="en-US" dirty="0"/>
              <a:t> – total number of actions performed by a user; low activity may indicate risk of churn.</a:t>
            </a:r>
          </a:p>
          <a:p>
            <a:pPr marL="285750" indent="-285750">
              <a:buFont typeface="Arial" panose="020B0604020202020204" pitchFamily="34" charset="0"/>
              <a:buChar char="•"/>
            </a:pPr>
            <a:r>
              <a:rPr lang="en-US" b="1" dirty="0"/>
              <a:t>Active Days</a:t>
            </a:r>
            <a:r>
              <a:rPr lang="en-US" dirty="0"/>
              <a:t> – number of distinct days a user was active; captures consistent engagement.</a:t>
            </a:r>
          </a:p>
          <a:p>
            <a:pPr marL="285750" indent="-285750">
              <a:buFont typeface="Arial" panose="020B0604020202020204" pitchFamily="34" charset="0"/>
              <a:buChar char="•"/>
            </a:pPr>
            <a:r>
              <a:rPr lang="en-US" b="1" dirty="0"/>
              <a:t>Days Since Last Activity (DSLA)</a:t>
            </a:r>
            <a:r>
              <a:rPr lang="en-US" dirty="0"/>
              <a:t> – calculated as the difference between a user’s last activity and the latest event in the dataset; identifies inactive users who may be at risk of churn</a:t>
            </a:r>
            <a:r>
              <a:rPr lang="en-US" dirty="0" smtClean="0"/>
              <a:t>.</a:t>
            </a:r>
          </a:p>
          <a:p>
            <a:pPr marL="285750" indent="-285750">
              <a:buFont typeface="Arial" panose="020B0604020202020204" pitchFamily="34" charset="0"/>
              <a:buChar char="•"/>
            </a:pPr>
            <a:endParaRPr lang="en-US" dirty="0"/>
          </a:p>
          <a:p>
            <a:r>
              <a:rPr lang="en-US" b="1" dirty="0">
                <a:solidFill>
                  <a:schemeClr val="accent3"/>
                </a:solidFill>
              </a:rPr>
              <a:t>◎ Potential Future Metrics (Post-Intervention)</a:t>
            </a:r>
            <a:endParaRPr lang="en-US" dirty="0">
              <a:solidFill>
                <a:schemeClr val="accent3"/>
              </a:solidFill>
            </a:endParaRPr>
          </a:p>
          <a:p>
            <a:pPr marL="285750" indent="-285750">
              <a:buFont typeface="Arial" panose="020B0604020202020204" pitchFamily="34" charset="0"/>
              <a:buChar char="•"/>
            </a:pPr>
            <a:r>
              <a:rPr lang="en-US" b="1" dirty="0"/>
              <a:t>Re-engagement Rate</a:t>
            </a:r>
            <a:r>
              <a:rPr lang="en-US" dirty="0"/>
              <a:t> – % of previously inactive users returning after interventions.</a:t>
            </a:r>
          </a:p>
          <a:p>
            <a:pPr marL="285750" indent="-285750">
              <a:buFont typeface="Arial" panose="020B0604020202020204" pitchFamily="34" charset="0"/>
              <a:buChar char="•"/>
            </a:pPr>
            <a:r>
              <a:rPr lang="en-US" b="1" dirty="0"/>
              <a:t>Engagement Level Over Time</a:t>
            </a:r>
            <a:r>
              <a:rPr lang="en-US" dirty="0"/>
              <a:t> – tracking trends in active days and events after campaigns</a:t>
            </a:r>
            <a:r>
              <a:rPr lang="en-US" dirty="0" smtClean="0"/>
              <a:t>.</a:t>
            </a:r>
            <a:endParaRPr lang="en-US" dirty="0"/>
          </a:p>
        </p:txBody>
      </p:sp>
    </p:spTree>
    <p:extLst>
      <p:ext uri="{BB962C8B-B14F-4D97-AF65-F5344CB8AC3E}">
        <p14:creationId xmlns:p14="http://schemas.microsoft.com/office/powerpoint/2010/main" val="30652245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59857" y="215830"/>
            <a:ext cx="3970988" cy="593778"/>
          </a:xfrm>
        </p:spPr>
        <p:txBody>
          <a:bodyPr>
            <a:noAutofit/>
          </a:bodyPr>
          <a:lstStyle/>
          <a:p>
            <a:pPr algn="l"/>
            <a:r>
              <a:rPr lang="en-US" sz="3200" b="1" dirty="0"/>
              <a:t>Data &amp; Methodology</a:t>
            </a:r>
          </a:p>
        </p:txBody>
      </p:sp>
      <p:sp>
        <p:nvSpPr>
          <p:cNvPr id="5" name="Title 1"/>
          <p:cNvSpPr txBox="1">
            <a:spLocks/>
          </p:cNvSpPr>
          <p:nvPr/>
        </p:nvSpPr>
        <p:spPr>
          <a:xfrm>
            <a:off x="7145383" y="215538"/>
            <a:ext cx="1907177" cy="59288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1800" b="1" dirty="0" smtClean="0">
                <a:solidFill>
                  <a:schemeClr val="accent1"/>
                </a:solidFill>
              </a:rPr>
              <a:t>FITLY ANALYTICS</a:t>
            </a:r>
            <a:endParaRPr lang="en-US" sz="1800" b="1" dirty="0">
              <a:solidFill>
                <a:schemeClr val="accent1"/>
              </a:solidFill>
            </a:endParaRPr>
          </a:p>
        </p:txBody>
      </p:sp>
      <p:sp>
        <p:nvSpPr>
          <p:cNvPr id="8" name="Rectangle 7"/>
          <p:cNvSpPr/>
          <p:nvPr/>
        </p:nvSpPr>
        <p:spPr>
          <a:xfrm>
            <a:off x="6792687" y="327312"/>
            <a:ext cx="378822" cy="369332"/>
          </a:xfrm>
          <a:prstGeom prst="rect">
            <a:avLst/>
          </a:prstGeom>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t>📈</a:t>
            </a:r>
          </a:p>
        </p:txBody>
      </p:sp>
      <p:sp>
        <p:nvSpPr>
          <p:cNvPr id="4" name="Rectangle 3"/>
          <p:cNvSpPr/>
          <p:nvPr/>
        </p:nvSpPr>
        <p:spPr>
          <a:xfrm>
            <a:off x="2953181" y="3105835"/>
            <a:ext cx="438150" cy="646331"/>
          </a:xfrm>
          <a:prstGeom prst="rect">
            <a:avLst/>
          </a:prstGeom>
        </p:spPr>
        <p:txBody>
          <a:bodyPr wrap="square">
            <a:spAutoFit/>
          </a:bodyPr>
          <a:lstStyle/>
          <a:p>
            <a:r>
              <a:rPr lang="en-US" dirty="0"/>
              <a:t/>
            </a:r>
            <a:br>
              <a:rPr lang="en-US" dirty="0"/>
            </a:br>
            <a:endParaRPr lang="en-US" dirty="0"/>
          </a:p>
        </p:txBody>
      </p:sp>
      <p:pic>
        <p:nvPicPr>
          <p:cNvPr id="9" name="Picture 8"/>
          <p:cNvPicPr>
            <a:picLocks noChangeAspect="1"/>
          </p:cNvPicPr>
          <p:nvPr/>
        </p:nvPicPr>
        <p:blipFill>
          <a:blip r:embed="rId3">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842553" y="1031826"/>
            <a:ext cx="6577150" cy="546134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7301309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1"/>
          <p:cNvSpPr txBox="1">
            <a:spLocks/>
          </p:cNvSpPr>
          <p:nvPr/>
        </p:nvSpPr>
        <p:spPr>
          <a:xfrm>
            <a:off x="7236823" y="147392"/>
            <a:ext cx="1907177" cy="59288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1800" b="1" dirty="0" smtClean="0">
                <a:solidFill>
                  <a:schemeClr val="accent1"/>
                </a:solidFill>
              </a:rPr>
              <a:t>FITLY ANALYTICS</a:t>
            </a:r>
            <a:endParaRPr lang="en-US" sz="1800" b="1" dirty="0">
              <a:solidFill>
                <a:schemeClr val="accent1"/>
              </a:solidFill>
            </a:endParaRPr>
          </a:p>
        </p:txBody>
      </p:sp>
      <p:sp>
        <p:nvSpPr>
          <p:cNvPr id="8" name="Rectangle 7"/>
          <p:cNvSpPr/>
          <p:nvPr/>
        </p:nvSpPr>
        <p:spPr>
          <a:xfrm>
            <a:off x="6884127" y="259166"/>
            <a:ext cx="378822" cy="369332"/>
          </a:xfrm>
          <a:prstGeom prst="rect">
            <a:avLst/>
          </a:prstGeom>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t>📈</a:t>
            </a:r>
          </a:p>
        </p:txBody>
      </p:sp>
      <p:sp>
        <p:nvSpPr>
          <p:cNvPr id="4" name="Rectangle 3"/>
          <p:cNvSpPr/>
          <p:nvPr/>
        </p:nvSpPr>
        <p:spPr>
          <a:xfrm>
            <a:off x="2953181" y="3105835"/>
            <a:ext cx="438150" cy="646331"/>
          </a:xfrm>
          <a:prstGeom prst="rect">
            <a:avLst/>
          </a:prstGeom>
        </p:spPr>
        <p:txBody>
          <a:bodyPr wrap="square">
            <a:spAutoFit/>
          </a:bodyPr>
          <a:lstStyle/>
          <a:p>
            <a:r>
              <a:rPr lang="en-US" dirty="0"/>
              <a:t/>
            </a:r>
            <a:br>
              <a:rPr lang="en-US" dirty="0"/>
            </a:br>
            <a:endParaRPr lang="en-US" dirty="0"/>
          </a:p>
        </p:txBody>
      </p:sp>
      <p:sp>
        <p:nvSpPr>
          <p:cNvPr id="24" name="Title 1"/>
          <p:cNvSpPr txBox="1">
            <a:spLocks/>
          </p:cNvSpPr>
          <p:nvPr/>
        </p:nvSpPr>
        <p:spPr>
          <a:xfrm>
            <a:off x="457199" y="142646"/>
            <a:ext cx="6262258" cy="800369"/>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t>Key Finding #1: High Churn is Concentrated among Free, Low-Engagement Users</a:t>
            </a:r>
            <a:endParaRPr lang="en-US" sz="2400" b="1" dirty="0"/>
          </a:p>
        </p:txBody>
      </p:sp>
      <p:sp>
        <p:nvSpPr>
          <p:cNvPr id="13" name="TextBox 12"/>
          <p:cNvSpPr txBox="1"/>
          <p:nvPr/>
        </p:nvSpPr>
        <p:spPr>
          <a:xfrm>
            <a:off x="457199" y="1581570"/>
            <a:ext cx="4447310" cy="2585323"/>
          </a:xfrm>
          <a:prstGeom prst="rect">
            <a:avLst/>
          </a:prstGeom>
          <a:noFill/>
        </p:spPr>
        <p:txBody>
          <a:bodyPr wrap="square" rtlCol="0">
            <a:spAutoFit/>
          </a:bodyPr>
          <a:lstStyle/>
          <a:p>
            <a:pPr marL="285750" lvl="0" indent="-285750">
              <a:buFont typeface="Arial" panose="020B0604020202020204" pitchFamily="34" charset="0"/>
              <a:buChar char="•"/>
            </a:pPr>
            <a:r>
              <a:rPr lang="en-US" b="1" dirty="0"/>
              <a:t>Free Tier:</a:t>
            </a:r>
            <a:r>
              <a:rPr lang="en-US" dirty="0"/>
              <a:t> Highest churn, driven by low engagement</a:t>
            </a:r>
            <a:r>
              <a:rPr lang="en-US" dirty="0" smtClean="0"/>
              <a:t>.</a:t>
            </a:r>
            <a:endParaRPr lang="en-US" dirty="0"/>
          </a:p>
          <a:p>
            <a:pPr marL="742950" lvl="1" indent="-285750">
              <a:buFont typeface="Arial" panose="020B0604020202020204" pitchFamily="34" charset="0"/>
              <a:buChar char="•"/>
            </a:pPr>
            <a:r>
              <a:rPr lang="en-US" dirty="0"/>
              <a:t>Users with </a:t>
            </a:r>
            <a:r>
              <a:rPr lang="en-US" b="1" dirty="0"/>
              <a:t>1 recorded event</a:t>
            </a:r>
            <a:r>
              <a:rPr lang="en-US" dirty="0"/>
              <a:t> → </a:t>
            </a:r>
            <a:r>
              <a:rPr lang="en-US" b="1" dirty="0"/>
              <a:t>~46% churn rate</a:t>
            </a:r>
            <a:endParaRPr lang="en-US" dirty="0" smtClean="0"/>
          </a:p>
          <a:p>
            <a:pPr marL="285750" lvl="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b="1" dirty="0"/>
              <a:t>Paid Subscriptions (Pro, Basic, Enterprise):</a:t>
            </a:r>
            <a:endParaRPr lang="en-US" dirty="0"/>
          </a:p>
          <a:p>
            <a:pPr marL="742950" lvl="1" indent="-285750">
              <a:buFont typeface="Arial" panose="020B0604020202020204" pitchFamily="34" charset="0"/>
              <a:buChar char="•"/>
            </a:pPr>
            <a:r>
              <a:rPr lang="en-US" dirty="0"/>
              <a:t>Average churn = </a:t>
            </a:r>
            <a:r>
              <a:rPr lang="en-US" b="1" dirty="0"/>
              <a:t>~</a:t>
            </a:r>
            <a:r>
              <a:rPr lang="en-US" b="1" dirty="0" smtClean="0"/>
              <a:t>24%</a:t>
            </a:r>
            <a:endParaRPr lang="en-US" dirty="0" smtClean="0"/>
          </a:p>
          <a:p>
            <a:pPr marL="742950" lvl="1" indent="-285750">
              <a:buFont typeface="Arial" panose="020B0604020202020204" pitchFamily="34" charset="0"/>
              <a:buChar char="•"/>
            </a:pPr>
            <a:r>
              <a:rPr lang="en-US" dirty="0" smtClean="0"/>
              <a:t>Suggests </a:t>
            </a:r>
            <a:r>
              <a:rPr lang="en-US" b="1" dirty="0"/>
              <a:t>higher perceived value</a:t>
            </a:r>
            <a:r>
              <a:rPr lang="en-US" dirty="0"/>
              <a:t> and/or </a:t>
            </a:r>
            <a:r>
              <a:rPr lang="en-US" b="1" dirty="0"/>
              <a:t>better support experience</a:t>
            </a:r>
            <a:endParaRPr lang="en-US" dirty="0"/>
          </a:p>
        </p:txBody>
      </p:sp>
      <p:sp>
        <p:nvSpPr>
          <p:cNvPr id="7" name="TextBox 6"/>
          <p:cNvSpPr txBox="1"/>
          <p:nvPr/>
        </p:nvSpPr>
        <p:spPr>
          <a:xfrm>
            <a:off x="457197" y="5321826"/>
            <a:ext cx="8503920"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Early engagement </a:t>
            </a:r>
            <a:r>
              <a:rPr lang="en-US" dirty="0"/>
              <a:t>and </a:t>
            </a:r>
            <a:r>
              <a:rPr lang="en-US" b="1" dirty="0"/>
              <a:t>onboarding</a:t>
            </a:r>
            <a:r>
              <a:rPr lang="en-US" dirty="0"/>
              <a:t> represent the largest opportunity for churn reduction</a:t>
            </a:r>
            <a:r>
              <a:rPr lang="en-US" dirty="0" smtClean="0"/>
              <a:t>. </a:t>
            </a:r>
            <a:endParaRPr lang="en-US" dirty="0"/>
          </a:p>
        </p:txBody>
      </p:sp>
      <p:pic>
        <p:nvPicPr>
          <p:cNvPr id="12" name="Picture 11"/>
          <p:cNvPicPr>
            <a:picLocks noChangeAspect="1"/>
          </p:cNvPicPr>
          <p:nvPr/>
        </p:nvPicPr>
        <p:blipFill>
          <a:blip r:embed="rId3"/>
          <a:stretch>
            <a:fillRect/>
          </a:stretch>
        </p:blipFill>
        <p:spPr>
          <a:xfrm>
            <a:off x="5265302" y="1478119"/>
            <a:ext cx="3616472" cy="2792223"/>
          </a:xfrm>
          <a:prstGeom prst="rect">
            <a:avLst/>
          </a:prstGeom>
        </p:spPr>
      </p:pic>
    </p:spTree>
    <p:extLst>
      <p:ext uri="{BB962C8B-B14F-4D97-AF65-F5344CB8AC3E}">
        <p14:creationId xmlns:p14="http://schemas.microsoft.com/office/powerpoint/2010/main" val="278700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1"/>
          <p:cNvSpPr txBox="1">
            <a:spLocks/>
          </p:cNvSpPr>
          <p:nvPr/>
        </p:nvSpPr>
        <p:spPr>
          <a:xfrm>
            <a:off x="7236823" y="220616"/>
            <a:ext cx="1907177" cy="59288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1800" b="1" dirty="0" smtClean="0">
                <a:solidFill>
                  <a:schemeClr val="accent1"/>
                </a:solidFill>
              </a:rPr>
              <a:t>FITLY ANALYTICS</a:t>
            </a:r>
            <a:endParaRPr lang="en-US" sz="1800" b="1" dirty="0">
              <a:solidFill>
                <a:schemeClr val="accent1"/>
              </a:solidFill>
            </a:endParaRPr>
          </a:p>
        </p:txBody>
      </p:sp>
      <p:sp>
        <p:nvSpPr>
          <p:cNvPr id="8" name="Rectangle 7"/>
          <p:cNvSpPr/>
          <p:nvPr/>
        </p:nvSpPr>
        <p:spPr>
          <a:xfrm>
            <a:off x="6884127" y="332390"/>
            <a:ext cx="378822" cy="369332"/>
          </a:xfrm>
          <a:prstGeom prst="rect">
            <a:avLst/>
          </a:prstGeom>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t>📈</a:t>
            </a:r>
          </a:p>
        </p:txBody>
      </p:sp>
      <p:sp>
        <p:nvSpPr>
          <p:cNvPr id="4" name="Rectangle 3"/>
          <p:cNvSpPr/>
          <p:nvPr/>
        </p:nvSpPr>
        <p:spPr>
          <a:xfrm>
            <a:off x="2953181" y="3105835"/>
            <a:ext cx="438150" cy="646331"/>
          </a:xfrm>
          <a:prstGeom prst="rect">
            <a:avLst/>
          </a:prstGeom>
        </p:spPr>
        <p:txBody>
          <a:bodyPr wrap="square">
            <a:spAutoFit/>
          </a:bodyPr>
          <a:lstStyle/>
          <a:p>
            <a:r>
              <a:rPr lang="en-US" dirty="0"/>
              <a:t/>
            </a:r>
            <a:br>
              <a:rPr lang="en-US" dirty="0"/>
            </a:br>
            <a:endParaRPr lang="en-US" dirty="0"/>
          </a:p>
        </p:txBody>
      </p:sp>
      <p:sp>
        <p:nvSpPr>
          <p:cNvPr id="24" name="Title 1"/>
          <p:cNvSpPr txBox="1">
            <a:spLocks/>
          </p:cNvSpPr>
          <p:nvPr/>
        </p:nvSpPr>
        <p:spPr>
          <a:xfrm>
            <a:off x="287912" y="220616"/>
            <a:ext cx="6206837" cy="738197"/>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t>Key Finding #2: Churn is driven by Free Plan Usage and Support Experience</a:t>
            </a:r>
            <a:endParaRPr lang="en-US" sz="2400" b="1" dirty="0"/>
          </a:p>
        </p:txBody>
      </p:sp>
      <p:sp>
        <p:nvSpPr>
          <p:cNvPr id="13" name="TextBox 12"/>
          <p:cNvSpPr txBox="1"/>
          <p:nvPr/>
        </p:nvSpPr>
        <p:spPr>
          <a:xfrm>
            <a:off x="457199" y="1234645"/>
            <a:ext cx="4239492" cy="3970318"/>
          </a:xfrm>
          <a:prstGeom prst="rect">
            <a:avLst/>
          </a:prstGeom>
          <a:noFill/>
        </p:spPr>
        <p:txBody>
          <a:bodyPr wrap="square" rtlCol="0">
            <a:spAutoFit/>
          </a:bodyPr>
          <a:lstStyle/>
          <a:p>
            <a:pPr marL="285750" lvl="0" indent="-285750">
              <a:buFont typeface="Arial" panose="020B0604020202020204" pitchFamily="34" charset="0"/>
              <a:buChar char="•"/>
            </a:pPr>
            <a:r>
              <a:rPr lang="en-US" dirty="0"/>
              <a:t>Number of support tickets </a:t>
            </a:r>
            <a:r>
              <a:rPr lang="en-US" b="1" dirty="0"/>
              <a:t>does not strongly correlate</a:t>
            </a:r>
            <a:r>
              <a:rPr lang="en-US" dirty="0"/>
              <a:t> with churn</a:t>
            </a:r>
            <a:r>
              <a:rPr lang="en-US" dirty="0" smtClean="0"/>
              <a:t>.</a:t>
            </a:r>
          </a:p>
          <a:p>
            <a:pPr lvl="0"/>
            <a:endParaRPr lang="en-US" dirty="0" smtClean="0"/>
          </a:p>
          <a:p>
            <a:pPr marL="285750" indent="-285750">
              <a:buFont typeface="Arial" panose="020B0604020202020204" pitchFamily="34" charset="0"/>
              <a:buChar char="•"/>
            </a:pPr>
            <a:r>
              <a:rPr lang="en-US" b="1" dirty="0" smtClean="0"/>
              <a:t>Churned </a:t>
            </a:r>
            <a:r>
              <a:rPr lang="en-US" b="1" dirty="0"/>
              <a:t>users</a:t>
            </a:r>
            <a:r>
              <a:rPr lang="en-US" dirty="0"/>
              <a:t> consistently experience </a:t>
            </a:r>
            <a:r>
              <a:rPr lang="en-US" b="1" dirty="0"/>
              <a:t>longer resolution times</a:t>
            </a:r>
            <a:r>
              <a:rPr lang="en-US" dirty="0"/>
              <a:t> than retained users, even within the same subscription plan</a:t>
            </a:r>
            <a:r>
              <a:rPr lang="en-US" dirty="0" smtClean="0"/>
              <a:t>.</a:t>
            </a:r>
          </a:p>
          <a:p>
            <a:pPr marL="285750" indent="-285750">
              <a:buFont typeface="Arial" panose="020B0604020202020204" pitchFamily="34" charset="0"/>
              <a:buChar char="•"/>
            </a:pPr>
            <a:endParaRPr lang="en-US" dirty="0" smtClean="0"/>
          </a:p>
          <a:p>
            <a:pPr marL="285750" lvl="0" indent="-285750">
              <a:buFont typeface="Arial" panose="020B0604020202020204" pitchFamily="34" charset="0"/>
              <a:buChar char="•"/>
            </a:pPr>
            <a:r>
              <a:rPr lang="en-US" b="1" dirty="0"/>
              <a:t>Free-tier users</a:t>
            </a:r>
            <a:r>
              <a:rPr lang="en-US" dirty="0"/>
              <a:t> face the </a:t>
            </a:r>
            <a:r>
              <a:rPr lang="en-US" b="1" dirty="0"/>
              <a:t>longest average resolution time (~10.8 hours</a:t>
            </a:r>
            <a:r>
              <a:rPr lang="en-US" b="1" dirty="0" smtClean="0"/>
              <a:t>).</a:t>
            </a:r>
          </a:p>
          <a:p>
            <a:pPr lvl="0"/>
            <a:endParaRPr lang="en-US" b="1" dirty="0"/>
          </a:p>
          <a:p>
            <a:pPr marL="285750" lvl="0" indent="-285750">
              <a:buFont typeface="Arial" panose="020B0604020202020204" pitchFamily="34" charset="0"/>
              <a:buChar char="•"/>
            </a:pPr>
            <a:r>
              <a:rPr lang="en-US" b="1" dirty="0"/>
              <a:t>Inactive users</a:t>
            </a:r>
            <a:r>
              <a:rPr lang="en-US" dirty="0"/>
              <a:t> average </a:t>
            </a:r>
            <a:r>
              <a:rPr lang="en-US" b="1" dirty="0"/>
              <a:t>~17 hours</a:t>
            </a:r>
            <a:r>
              <a:rPr lang="en-US" dirty="0"/>
              <a:t>, roughly </a:t>
            </a:r>
            <a:r>
              <a:rPr lang="en-US" b="1" dirty="0"/>
              <a:t>3× higher</a:t>
            </a:r>
            <a:r>
              <a:rPr lang="en-US" dirty="0"/>
              <a:t> than users who remained active.</a:t>
            </a:r>
          </a:p>
        </p:txBody>
      </p:sp>
      <p:pic>
        <p:nvPicPr>
          <p:cNvPr id="6" name="Picture 5"/>
          <p:cNvPicPr>
            <a:picLocks noChangeAspect="1"/>
          </p:cNvPicPr>
          <p:nvPr/>
        </p:nvPicPr>
        <p:blipFill>
          <a:blip r:embed="rId3"/>
          <a:stretch>
            <a:fillRect/>
          </a:stretch>
        </p:blipFill>
        <p:spPr>
          <a:xfrm>
            <a:off x="4837364" y="1782137"/>
            <a:ext cx="4093525" cy="3293725"/>
          </a:xfrm>
          <a:prstGeom prst="rect">
            <a:avLst/>
          </a:prstGeom>
        </p:spPr>
      </p:pic>
      <p:sp>
        <p:nvSpPr>
          <p:cNvPr id="7" name="TextBox 6"/>
          <p:cNvSpPr txBox="1"/>
          <p:nvPr/>
        </p:nvSpPr>
        <p:spPr>
          <a:xfrm>
            <a:off x="457199" y="5351694"/>
            <a:ext cx="8503920"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dirty="0"/>
              <a:t>Users on the </a:t>
            </a:r>
            <a:r>
              <a:rPr lang="en-US" b="1" dirty="0"/>
              <a:t>Free subscription plan</a:t>
            </a:r>
            <a:r>
              <a:rPr lang="en-US" dirty="0"/>
              <a:t>, particularly those with </a:t>
            </a:r>
            <a:r>
              <a:rPr lang="en-US" b="1" dirty="0"/>
              <a:t>low engagement and slower support responsiveness</a:t>
            </a:r>
            <a:r>
              <a:rPr lang="en-US" dirty="0"/>
              <a:t>, exhibit a </a:t>
            </a:r>
            <a:r>
              <a:rPr lang="en-US" b="1" dirty="0"/>
              <a:t>significantly higher risk of churn</a:t>
            </a:r>
            <a:r>
              <a:rPr lang="en-US" dirty="0"/>
              <a:t> compared to paid subscribers.</a:t>
            </a:r>
          </a:p>
        </p:txBody>
      </p:sp>
    </p:spTree>
    <p:extLst>
      <p:ext uri="{BB962C8B-B14F-4D97-AF65-F5344CB8AC3E}">
        <p14:creationId xmlns:p14="http://schemas.microsoft.com/office/powerpoint/2010/main" val="31845816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1"/>
          <p:cNvSpPr txBox="1">
            <a:spLocks/>
          </p:cNvSpPr>
          <p:nvPr/>
        </p:nvSpPr>
        <p:spPr>
          <a:xfrm>
            <a:off x="7236823" y="181679"/>
            <a:ext cx="1907177" cy="59288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1800" b="1" dirty="0" smtClean="0">
                <a:solidFill>
                  <a:schemeClr val="accent1"/>
                </a:solidFill>
              </a:rPr>
              <a:t>FITLY ANALYTICS</a:t>
            </a:r>
            <a:endParaRPr lang="en-US" sz="1800" b="1" dirty="0">
              <a:solidFill>
                <a:schemeClr val="accent1"/>
              </a:solidFill>
            </a:endParaRPr>
          </a:p>
        </p:txBody>
      </p:sp>
      <p:sp>
        <p:nvSpPr>
          <p:cNvPr id="8" name="Rectangle 7"/>
          <p:cNvSpPr/>
          <p:nvPr/>
        </p:nvSpPr>
        <p:spPr>
          <a:xfrm>
            <a:off x="6884127" y="293453"/>
            <a:ext cx="378822" cy="369332"/>
          </a:xfrm>
          <a:prstGeom prst="rect">
            <a:avLst/>
          </a:prstGeom>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t>📈</a:t>
            </a:r>
          </a:p>
        </p:txBody>
      </p:sp>
      <p:sp>
        <p:nvSpPr>
          <p:cNvPr id="4" name="Rectangle 3"/>
          <p:cNvSpPr/>
          <p:nvPr/>
        </p:nvSpPr>
        <p:spPr>
          <a:xfrm>
            <a:off x="2953181" y="3105835"/>
            <a:ext cx="438150" cy="646331"/>
          </a:xfrm>
          <a:prstGeom prst="rect">
            <a:avLst/>
          </a:prstGeom>
        </p:spPr>
        <p:txBody>
          <a:bodyPr wrap="square">
            <a:spAutoFit/>
          </a:bodyPr>
          <a:lstStyle/>
          <a:p>
            <a:r>
              <a:rPr lang="en-US" dirty="0"/>
              <a:t/>
            </a:r>
            <a:br>
              <a:rPr lang="en-US" dirty="0"/>
            </a:br>
            <a:endParaRPr lang="en-US" dirty="0"/>
          </a:p>
        </p:txBody>
      </p:sp>
      <p:sp>
        <p:nvSpPr>
          <p:cNvPr id="24" name="Title 1"/>
          <p:cNvSpPr txBox="1">
            <a:spLocks/>
          </p:cNvSpPr>
          <p:nvPr/>
        </p:nvSpPr>
        <p:spPr>
          <a:xfrm>
            <a:off x="558076" y="215902"/>
            <a:ext cx="5666509" cy="79388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000" b="1" dirty="0" smtClean="0"/>
              <a:t>Key Finding #3: Higher Engagement Strongly Improves Retention</a:t>
            </a:r>
            <a:endParaRPr lang="en-US" sz="2000" b="1" dirty="0"/>
          </a:p>
        </p:txBody>
      </p:sp>
      <p:pic>
        <p:nvPicPr>
          <p:cNvPr id="7" name="Picture 6"/>
          <p:cNvPicPr>
            <a:picLocks noChangeAspect="1"/>
          </p:cNvPicPr>
          <p:nvPr/>
        </p:nvPicPr>
        <p:blipFill>
          <a:blip r:embed="rId3"/>
          <a:stretch>
            <a:fillRect/>
          </a:stretch>
        </p:blipFill>
        <p:spPr>
          <a:xfrm>
            <a:off x="4241654" y="1093064"/>
            <a:ext cx="4738254" cy="3474720"/>
          </a:xfrm>
          <a:prstGeom prst="rect">
            <a:avLst/>
          </a:prstGeom>
        </p:spPr>
      </p:pic>
      <p:sp>
        <p:nvSpPr>
          <p:cNvPr id="13" name="TextBox 12"/>
          <p:cNvSpPr txBox="1"/>
          <p:nvPr/>
        </p:nvSpPr>
        <p:spPr>
          <a:xfrm>
            <a:off x="457200" y="1260764"/>
            <a:ext cx="3657600" cy="3139321"/>
          </a:xfrm>
          <a:prstGeom prst="rect">
            <a:avLst/>
          </a:prstGeom>
          <a:noFill/>
        </p:spPr>
        <p:txBody>
          <a:bodyPr wrap="square" rtlCol="0">
            <a:spAutoFit/>
          </a:bodyPr>
          <a:lstStyle/>
          <a:p>
            <a:pPr marL="285750" lvl="0" indent="-285750">
              <a:buFont typeface="Arial" panose="020B0604020202020204" pitchFamily="34" charset="0"/>
              <a:buChar char="•"/>
            </a:pPr>
            <a:r>
              <a:rPr lang="en-US" dirty="0"/>
              <a:t>Retained users exhibit significantly higher activity </a:t>
            </a:r>
            <a:r>
              <a:rPr lang="en-US" dirty="0" smtClean="0"/>
              <a:t>than </a:t>
            </a:r>
            <a:r>
              <a:rPr lang="en-US" dirty="0"/>
              <a:t>churned </a:t>
            </a:r>
            <a:r>
              <a:rPr lang="en-US" dirty="0" smtClean="0"/>
              <a:t>users.</a:t>
            </a:r>
          </a:p>
          <a:p>
            <a:pPr marL="285750" lvl="0" indent="-285750">
              <a:buFont typeface="Arial" panose="020B0604020202020204" pitchFamily="34" charset="0"/>
              <a:buChar char="•"/>
            </a:pPr>
            <a:endParaRPr lang="en-US" dirty="0" smtClean="0"/>
          </a:p>
          <a:p>
            <a:pPr marL="285750" lvl="0" indent="-285750">
              <a:buFont typeface="Arial" panose="020B0604020202020204" pitchFamily="34" charset="0"/>
              <a:buChar char="•"/>
            </a:pPr>
            <a:r>
              <a:rPr lang="en-US" dirty="0" smtClean="0"/>
              <a:t>On </a:t>
            </a:r>
            <a:r>
              <a:rPr lang="en-US" dirty="0"/>
              <a:t>average, retained users have </a:t>
            </a:r>
            <a:r>
              <a:rPr lang="en-US" dirty="0"/>
              <a:t>~</a:t>
            </a:r>
            <a:r>
              <a:rPr lang="en-US" dirty="0" smtClean="0"/>
              <a:t>4x more </a:t>
            </a:r>
            <a:r>
              <a:rPr lang="en-US" dirty="0"/>
              <a:t>recorded </a:t>
            </a:r>
            <a:r>
              <a:rPr lang="en-US" dirty="0" smtClean="0"/>
              <a:t>events than churned users.</a:t>
            </a:r>
          </a:p>
          <a:p>
            <a:pPr lvl="0"/>
            <a:endParaRPr lang="en-US" dirty="0" smtClean="0"/>
          </a:p>
          <a:p>
            <a:pPr marL="285750" lvl="0" indent="-285750">
              <a:buFont typeface="Arial" panose="020B0604020202020204" pitchFamily="34" charset="0"/>
              <a:buChar char="•"/>
            </a:pPr>
            <a:r>
              <a:rPr lang="en-US" dirty="0" smtClean="0"/>
              <a:t>Churn </a:t>
            </a:r>
            <a:r>
              <a:rPr lang="en-US" dirty="0"/>
              <a:t>rates decrease sharply as engagement increases</a:t>
            </a:r>
          </a:p>
          <a:p>
            <a:endParaRPr lang="en-US" dirty="0"/>
          </a:p>
        </p:txBody>
      </p:sp>
      <p:sp>
        <p:nvSpPr>
          <p:cNvPr id="18" name="TextBox 17"/>
          <p:cNvSpPr txBox="1"/>
          <p:nvPr/>
        </p:nvSpPr>
        <p:spPr>
          <a:xfrm>
            <a:off x="475988" y="5037096"/>
            <a:ext cx="8503920"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dirty="0"/>
              <a:t>Even modest </a:t>
            </a:r>
            <a:r>
              <a:rPr lang="en-US" b="1" dirty="0"/>
              <a:t>increases in user engagement </a:t>
            </a:r>
            <a:r>
              <a:rPr lang="en-US" dirty="0"/>
              <a:t>are associated with substantial </a:t>
            </a:r>
            <a:r>
              <a:rPr lang="en-US" b="1" dirty="0"/>
              <a:t>improvements in retention</a:t>
            </a:r>
            <a:endParaRPr lang="en-US" b="1" dirty="0"/>
          </a:p>
        </p:txBody>
      </p:sp>
    </p:spTree>
    <p:extLst>
      <p:ext uri="{BB962C8B-B14F-4D97-AF65-F5344CB8AC3E}">
        <p14:creationId xmlns:p14="http://schemas.microsoft.com/office/powerpoint/2010/main" val="11530114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1"/>
          <p:cNvSpPr txBox="1">
            <a:spLocks/>
          </p:cNvSpPr>
          <p:nvPr/>
        </p:nvSpPr>
        <p:spPr>
          <a:xfrm>
            <a:off x="7236823" y="147392"/>
            <a:ext cx="1907177" cy="59288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1800" b="1" dirty="0" smtClean="0">
                <a:solidFill>
                  <a:schemeClr val="accent1"/>
                </a:solidFill>
              </a:rPr>
              <a:t>FITLY ANALYTICS</a:t>
            </a:r>
            <a:endParaRPr lang="en-US" sz="1800" b="1" dirty="0">
              <a:solidFill>
                <a:schemeClr val="accent1"/>
              </a:solidFill>
            </a:endParaRPr>
          </a:p>
        </p:txBody>
      </p:sp>
      <p:sp>
        <p:nvSpPr>
          <p:cNvPr id="8" name="Rectangle 7"/>
          <p:cNvSpPr/>
          <p:nvPr/>
        </p:nvSpPr>
        <p:spPr>
          <a:xfrm>
            <a:off x="6884127" y="259166"/>
            <a:ext cx="378822" cy="369332"/>
          </a:xfrm>
          <a:prstGeom prst="rect">
            <a:avLst/>
          </a:prstGeom>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t>📈</a:t>
            </a:r>
          </a:p>
        </p:txBody>
      </p:sp>
      <p:sp>
        <p:nvSpPr>
          <p:cNvPr id="4" name="Rectangle 3"/>
          <p:cNvSpPr/>
          <p:nvPr/>
        </p:nvSpPr>
        <p:spPr>
          <a:xfrm>
            <a:off x="2953181" y="3105835"/>
            <a:ext cx="438150" cy="646331"/>
          </a:xfrm>
          <a:prstGeom prst="rect">
            <a:avLst/>
          </a:prstGeom>
        </p:spPr>
        <p:txBody>
          <a:bodyPr wrap="square">
            <a:spAutoFit/>
          </a:bodyPr>
          <a:lstStyle/>
          <a:p>
            <a:r>
              <a:rPr lang="en-US" dirty="0"/>
              <a:t/>
            </a:r>
            <a:br>
              <a:rPr lang="en-US" dirty="0"/>
            </a:br>
            <a:endParaRPr lang="en-US" dirty="0"/>
          </a:p>
        </p:txBody>
      </p:sp>
      <p:sp>
        <p:nvSpPr>
          <p:cNvPr id="24" name="Title 1"/>
          <p:cNvSpPr txBox="1">
            <a:spLocks/>
          </p:cNvSpPr>
          <p:nvPr/>
        </p:nvSpPr>
        <p:spPr>
          <a:xfrm>
            <a:off x="317914" y="142646"/>
            <a:ext cx="6207577" cy="84483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t>Key Finding #4: User Inactivity is a Strong Predictor of </a:t>
            </a:r>
            <a:r>
              <a:rPr lang="en-US" sz="2400" b="1" dirty="0"/>
              <a:t>Churn</a:t>
            </a:r>
          </a:p>
        </p:txBody>
      </p:sp>
      <p:sp>
        <p:nvSpPr>
          <p:cNvPr id="13" name="TextBox 12"/>
          <p:cNvSpPr txBox="1"/>
          <p:nvPr/>
        </p:nvSpPr>
        <p:spPr>
          <a:xfrm>
            <a:off x="457200" y="1236911"/>
            <a:ext cx="3657600" cy="3139321"/>
          </a:xfrm>
          <a:prstGeom prst="rect">
            <a:avLst/>
          </a:prstGeom>
          <a:noFill/>
        </p:spPr>
        <p:txBody>
          <a:bodyPr wrap="square" rtlCol="0">
            <a:spAutoFit/>
          </a:bodyPr>
          <a:lstStyle/>
          <a:p>
            <a:pPr marL="285750" lvl="0" indent="-285750">
              <a:buFont typeface="Arial" panose="020B0604020202020204" pitchFamily="34" charset="0"/>
              <a:buChar char="•"/>
            </a:pPr>
            <a:r>
              <a:rPr lang="en-US" b="1" dirty="0"/>
              <a:t>Churned users </a:t>
            </a:r>
            <a:r>
              <a:rPr lang="en-US" dirty="0" smtClean="0"/>
              <a:t>experience </a:t>
            </a:r>
            <a:r>
              <a:rPr lang="en-US" dirty="0"/>
              <a:t>much longer periods of inactivity prior to </a:t>
            </a:r>
            <a:r>
              <a:rPr lang="en-US" dirty="0" smtClean="0"/>
              <a:t>leaving.</a:t>
            </a:r>
          </a:p>
          <a:p>
            <a:pPr lvl="0"/>
            <a:endParaRPr lang="en-US" dirty="0" smtClean="0"/>
          </a:p>
          <a:p>
            <a:pPr marL="285750" indent="-285750">
              <a:buFont typeface="Arial" panose="020B0604020202020204" pitchFamily="34" charset="0"/>
              <a:buChar char="•"/>
            </a:pPr>
            <a:r>
              <a:rPr lang="en-US" b="1" dirty="0"/>
              <a:t>Mean days since last activity:</a:t>
            </a:r>
            <a:endParaRPr lang="en-US" dirty="0"/>
          </a:p>
          <a:p>
            <a:pPr marL="742950" lvl="1" indent="-285750">
              <a:buFont typeface="Arial" panose="020B0604020202020204" pitchFamily="34" charset="0"/>
              <a:buChar char="•"/>
            </a:pPr>
            <a:r>
              <a:rPr lang="en-US" b="1" dirty="0"/>
              <a:t>Inactive / churned users:</a:t>
            </a:r>
            <a:r>
              <a:rPr lang="en-US" dirty="0"/>
              <a:t> ~86 </a:t>
            </a:r>
            <a:r>
              <a:rPr lang="en-US" dirty="0" smtClean="0"/>
              <a:t>days</a:t>
            </a:r>
          </a:p>
          <a:p>
            <a:pPr marL="742950" lvl="1" indent="-285750">
              <a:buFont typeface="Arial" panose="020B0604020202020204" pitchFamily="34" charset="0"/>
              <a:buChar char="•"/>
            </a:pPr>
            <a:r>
              <a:rPr lang="en-US" b="1" dirty="0" smtClean="0"/>
              <a:t>Retained </a:t>
            </a:r>
            <a:r>
              <a:rPr lang="en-US" b="1" dirty="0"/>
              <a:t>users:</a:t>
            </a:r>
            <a:r>
              <a:rPr lang="en-US" dirty="0"/>
              <a:t> ~54 days</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b="1" dirty="0" smtClean="0"/>
              <a:t>Prolonged </a:t>
            </a:r>
            <a:r>
              <a:rPr lang="en-US" b="1" dirty="0"/>
              <a:t>inactivity </a:t>
            </a:r>
            <a:r>
              <a:rPr lang="en-US" dirty="0"/>
              <a:t>is a strong </a:t>
            </a:r>
            <a:r>
              <a:rPr lang="en-US" dirty="0" smtClean="0"/>
              <a:t>early warning </a:t>
            </a:r>
            <a:r>
              <a:rPr lang="en-US" dirty="0"/>
              <a:t>signal </a:t>
            </a:r>
            <a:r>
              <a:rPr lang="en-US" dirty="0" smtClean="0"/>
              <a:t>for churn.</a:t>
            </a:r>
            <a:endParaRPr lang="en-US" dirty="0"/>
          </a:p>
        </p:txBody>
      </p:sp>
      <p:pic>
        <p:nvPicPr>
          <p:cNvPr id="2" name="Picture 1"/>
          <p:cNvPicPr>
            <a:picLocks noChangeAspect="1"/>
          </p:cNvPicPr>
          <p:nvPr/>
        </p:nvPicPr>
        <p:blipFill>
          <a:blip r:embed="rId3"/>
          <a:stretch>
            <a:fillRect/>
          </a:stretch>
        </p:blipFill>
        <p:spPr>
          <a:xfrm>
            <a:off x="4319712" y="1069211"/>
            <a:ext cx="4582137" cy="3474720"/>
          </a:xfrm>
          <a:prstGeom prst="rect">
            <a:avLst/>
          </a:prstGeom>
        </p:spPr>
      </p:pic>
      <p:sp>
        <p:nvSpPr>
          <p:cNvPr id="3" name="TextBox 2"/>
          <p:cNvSpPr txBox="1"/>
          <p:nvPr/>
        </p:nvSpPr>
        <p:spPr>
          <a:xfrm>
            <a:off x="457200" y="5371006"/>
            <a:ext cx="8503920"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dirty="0"/>
              <a:t>Churn</a:t>
            </a:r>
            <a:r>
              <a:rPr lang="en-US" dirty="0"/>
              <a:t> is rarely sudden; it is typically preceded by </a:t>
            </a:r>
            <a:r>
              <a:rPr lang="en-US" b="1" dirty="0"/>
              <a:t>disengagement</a:t>
            </a:r>
            <a:r>
              <a:rPr lang="en-US" dirty="0"/>
              <a:t>.</a:t>
            </a:r>
            <a:endParaRPr lang="en-US" dirty="0"/>
          </a:p>
        </p:txBody>
      </p:sp>
    </p:spTree>
    <p:extLst>
      <p:ext uri="{BB962C8B-B14F-4D97-AF65-F5344CB8AC3E}">
        <p14:creationId xmlns:p14="http://schemas.microsoft.com/office/powerpoint/2010/main" val="38454327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1"/>
          <p:cNvSpPr txBox="1">
            <a:spLocks/>
          </p:cNvSpPr>
          <p:nvPr/>
        </p:nvSpPr>
        <p:spPr>
          <a:xfrm>
            <a:off x="6648997" y="322096"/>
            <a:ext cx="2116182" cy="59288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1800" b="1" dirty="0" smtClean="0">
                <a:solidFill>
                  <a:schemeClr val="accent1"/>
                </a:solidFill>
              </a:rPr>
              <a:t>      FITLY ANALYTICS</a:t>
            </a:r>
            <a:endParaRPr lang="en-US" sz="1800" b="1" dirty="0">
              <a:solidFill>
                <a:schemeClr val="accent1"/>
              </a:solidFill>
            </a:endParaRPr>
          </a:p>
        </p:txBody>
      </p:sp>
      <p:sp>
        <p:nvSpPr>
          <p:cNvPr id="8" name="Rectangle 7"/>
          <p:cNvSpPr/>
          <p:nvPr/>
        </p:nvSpPr>
        <p:spPr>
          <a:xfrm>
            <a:off x="6648997" y="427668"/>
            <a:ext cx="378822" cy="369332"/>
          </a:xfrm>
          <a:prstGeom prst="rect">
            <a:avLst/>
          </a:prstGeom>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t>📈</a:t>
            </a:r>
          </a:p>
        </p:txBody>
      </p:sp>
      <p:sp>
        <p:nvSpPr>
          <p:cNvPr id="4" name="Rectangle 3"/>
          <p:cNvSpPr/>
          <p:nvPr/>
        </p:nvSpPr>
        <p:spPr>
          <a:xfrm>
            <a:off x="2953181" y="3105835"/>
            <a:ext cx="438150" cy="646331"/>
          </a:xfrm>
          <a:prstGeom prst="rect">
            <a:avLst/>
          </a:prstGeom>
        </p:spPr>
        <p:txBody>
          <a:bodyPr wrap="square">
            <a:spAutoFit/>
          </a:bodyPr>
          <a:lstStyle/>
          <a:p>
            <a:r>
              <a:rPr lang="en-US" dirty="0"/>
              <a:t/>
            </a:r>
            <a:br>
              <a:rPr lang="en-US" dirty="0"/>
            </a:br>
            <a:endParaRPr lang="en-US" dirty="0"/>
          </a:p>
        </p:txBody>
      </p:sp>
      <p:sp>
        <p:nvSpPr>
          <p:cNvPr id="24" name="Title 1"/>
          <p:cNvSpPr txBox="1">
            <a:spLocks/>
          </p:cNvSpPr>
          <p:nvPr/>
        </p:nvSpPr>
        <p:spPr>
          <a:xfrm>
            <a:off x="615141" y="315894"/>
            <a:ext cx="5759533" cy="599082"/>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3200" b="1" dirty="0" smtClean="0"/>
              <a:t>Recommendations &amp; Next Steps</a:t>
            </a:r>
            <a:endParaRPr lang="en-US" sz="3200" b="1" dirty="0"/>
          </a:p>
        </p:txBody>
      </p:sp>
      <p:pic>
        <p:nvPicPr>
          <p:cNvPr id="11" name="Content Placeholder 10"/>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56755" y="1240971"/>
            <a:ext cx="8706766" cy="4937760"/>
          </a:xfrm>
        </p:spPr>
      </p:pic>
    </p:spTree>
    <p:extLst>
      <p:ext uri="{BB962C8B-B14F-4D97-AF65-F5344CB8AC3E}">
        <p14:creationId xmlns:p14="http://schemas.microsoft.com/office/powerpoint/2010/main" val="34265002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1"/>
          <p:cNvSpPr txBox="1">
            <a:spLocks/>
          </p:cNvSpPr>
          <p:nvPr/>
        </p:nvSpPr>
        <p:spPr>
          <a:xfrm>
            <a:off x="6675120" y="248677"/>
            <a:ext cx="2168434" cy="59288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1800" b="1" dirty="0" smtClean="0">
                <a:solidFill>
                  <a:schemeClr val="accent1"/>
                </a:solidFill>
              </a:rPr>
              <a:t>    FITLY ANALYTICS</a:t>
            </a:r>
            <a:endParaRPr lang="en-US" sz="1800" b="1" dirty="0">
              <a:solidFill>
                <a:schemeClr val="accent1"/>
              </a:solidFill>
            </a:endParaRPr>
          </a:p>
        </p:txBody>
      </p:sp>
      <p:sp>
        <p:nvSpPr>
          <p:cNvPr id="8" name="Rectangle 7"/>
          <p:cNvSpPr/>
          <p:nvPr/>
        </p:nvSpPr>
        <p:spPr>
          <a:xfrm>
            <a:off x="6675120" y="360451"/>
            <a:ext cx="378822" cy="369332"/>
          </a:xfrm>
          <a:prstGeom prst="rect">
            <a:avLst/>
          </a:prstGeom>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t>📈</a:t>
            </a:r>
          </a:p>
        </p:txBody>
      </p:sp>
      <p:sp>
        <p:nvSpPr>
          <p:cNvPr id="4" name="Rectangle 3"/>
          <p:cNvSpPr/>
          <p:nvPr/>
        </p:nvSpPr>
        <p:spPr>
          <a:xfrm>
            <a:off x="2953181" y="3105835"/>
            <a:ext cx="438150" cy="646331"/>
          </a:xfrm>
          <a:prstGeom prst="rect">
            <a:avLst/>
          </a:prstGeom>
        </p:spPr>
        <p:txBody>
          <a:bodyPr wrap="square">
            <a:spAutoFit/>
          </a:bodyPr>
          <a:lstStyle/>
          <a:p>
            <a:r>
              <a:rPr lang="en-US" dirty="0"/>
              <a:t/>
            </a:r>
            <a:br>
              <a:rPr lang="en-US" dirty="0"/>
            </a:br>
            <a:endParaRPr lang="en-US" dirty="0"/>
          </a:p>
        </p:txBody>
      </p:sp>
      <p:sp>
        <p:nvSpPr>
          <p:cNvPr id="24" name="Title 1"/>
          <p:cNvSpPr txBox="1">
            <a:spLocks/>
          </p:cNvSpPr>
          <p:nvPr/>
        </p:nvSpPr>
        <p:spPr>
          <a:xfrm>
            <a:off x="138546" y="219641"/>
            <a:ext cx="6249192" cy="95828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3200" b="1" dirty="0"/>
              <a:t>Conclusion: Key Drivers &amp; Retention Insights</a:t>
            </a:r>
            <a:r>
              <a:rPr lang="en-US" sz="3200" dirty="0"/>
              <a:t> </a:t>
            </a:r>
            <a:r>
              <a:rPr lang="en-US" sz="3200" dirty="0" smtClean="0">
                <a:solidFill>
                  <a:schemeClr val="accent1">
                    <a:lumMod val="75000"/>
                  </a:schemeClr>
                </a:solidFill>
              </a:rPr>
              <a:t>☑</a:t>
            </a:r>
            <a:endParaRPr lang="en-US" sz="3200" b="1" dirty="0">
              <a:solidFill>
                <a:schemeClr val="accent1">
                  <a:lumMod val="75000"/>
                </a:schemeClr>
              </a:solidFill>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545" y="1501134"/>
            <a:ext cx="8705009" cy="4502064"/>
          </a:xfrm>
          <a:prstGeom prst="rect">
            <a:avLst/>
          </a:prstGeom>
        </p:spPr>
      </p:pic>
    </p:spTree>
    <p:extLst>
      <p:ext uri="{BB962C8B-B14F-4D97-AF65-F5344CB8AC3E}">
        <p14:creationId xmlns:p14="http://schemas.microsoft.com/office/powerpoint/2010/main" val="376787060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9016</TotalTime>
  <Words>1324</Words>
  <Application>Microsoft Office PowerPoint</Application>
  <PresentationFormat>On-screen Show (4:3)</PresentationFormat>
  <Paragraphs>115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Customer Churn Analysis</vt:lpstr>
      <vt:lpstr>Project Overview &amp; Business Goals</vt:lpstr>
      <vt:lpstr>PowerPoint Presentation</vt:lpstr>
      <vt:lpstr>Data &amp; Methodology</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&amp; Engagement Analysis</dc:title>
  <dc:subject/>
  <dc:creator>Tarek</dc:creator>
  <cp:keywords/>
  <dc:description>generated using python-pptx</dc:description>
  <cp:lastModifiedBy>Maher Fattouh</cp:lastModifiedBy>
  <cp:revision>96</cp:revision>
  <dcterms:created xsi:type="dcterms:W3CDTF">2013-01-27T09:14:16Z</dcterms:created>
  <dcterms:modified xsi:type="dcterms:W3CDTF">2026-02-08T19:35:53Z</dcterms:modified>
  <cp:category/>
</cp:coreProperties>
</file>