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9" r:id="rId3"/>
    <p:sldId id="271" r:id="rId4"/>
    <p:sldId id="275" r:id="rId5"/>
    <p:sldId id="274" r:id="rId6"/>
    <p:sldId id="272" r:id="rId7"/>
    <p:sldId id="276" r:id="rId8"/>
    <p:sldId id="277" r:id="rId9"/>
    <p:sldId id="280" r:id="rId10"/>
    <p:sldId id="281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59" autoAdjust="0"/>
    <p:restoredTop sz="94343" autoAdjust="0"/>
  </p:normalViewPr>
  <p:slideViewPr>
    <p:cSldViewPr snapToGrid="0" snapToObjects="1">
      <p:cViewPr varScale="1">
        <p:scale>
          <a:sx n="69" d="100"/>
          <a:sy n="69" d="100"/>
        </p:scale>
        <p:origin x="135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3B4D54-C6C2-400F-A4C4-CDC677221DF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0087E3-F201-46AE-9BCD-FC993BC35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238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7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Relationship Id="rId9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646"/>
            <a:ext cx="5098473" cy="816428"/>
          </a:xfrm>
        </p:spPr>
        <p:txBody>
          <a:bodyPr>
            <a:normAutofit/>
          </a:bodyPr>
          <a:lstStyle/>
          <a:p>
            <a:pPr algn="l"/>
            <a:r>
              <a:rPr sz="3200" b="1" dirty="0"/>
              <a:t>Customer Churn </a:t>
            </a:r>
            <a:r>
              <a:rPr sz="3200" b="1" dirty="0" smtClean="0"/>
              <a:t>Analysis</a:t>
            </a:r>
            <a:endParaRPr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6834" y="1070848"/>
            <a:ext cx="8347166" cy="2815046"/>
          </a:xfrm>
        </p:spPr>
        <p:txBody>
          <a:bodyPr/>
          <a:lstStyle/>
          <a:p>
            <a:pPr marL="0" indent="0">
              <a:buNone/>
            </a:pPr>
            <a:r>
              <a:rPr lang="en-US" b="1" cap="all" dirty="0"/>
              <a:t>Executive Summary</a:t>
            </a:r>
          </a:p>
          <a:p>
            <a:pPr marL="0" indent="0">
              <a:buNone/>
            </a:pPr>
            <a:r>
              <a:rPr lang="en-US" sz="2400" dirty="0"/>
              <a:t>Churn is heavily concentrated in the Free tier (41%). Analysis identifies low engagement and slower support resolution times as primary drivers. Strategic focus on re-engagement, onboarding, and support efficiency can significantly improve retention.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126163"/>
            <a:ext cx="9144000" cy="73183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/>
              <a:t>     Presented by: Tarek Dib			</a:t>
            </a:r>
            <a:r>
              <a:rPr lang="en-US" dirty="0"/>
              <a:t>	</a:t>
            </a:r>
            <a:r>
              <a:rPr lang="en-US" dirty="0" smtClean="0"/>
              <a:t>02/02/2026				For Senior Leadership </a:t>
            </a:r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7236823" y="30872"/>
            <a:ext cx="1907177" cy="592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solidFill>
                  <a:schemeClr val="accent1"/>
                </a:solidFill>
              </a:rPr>
              <a:t>FITLY ANALYTICS</a:t>
            </a:r>
            <a:endParaRPr lang="en-US" sz="1800" b="1" dirty="0">
              <a:solidFill>
                <a:schemeClr val="accent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84127" y="142646"/>
            <a:ext cx="378822" cy="36933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📈</a:t>
            </a:r>
          </a:p>
        </p:txBody>
      </p:sp>
      <p:cxnSp>
        <p:nvCxnSpPr>
          <p:cNvPr id="15" name="Straight Connector 14"/>
          <p:cNvCxnSpPr/>
          <p:nvPr/>
        </p:nvCxnSpPr>
        <p:spPr>
          <a:xfrm flipH="1">
            <a:off x="644434" y="1211679"/>
            <a:ext cx="0" cy="1920240"/>
          </a:xfrm>
          <a:prstGeom prst="lin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167" y="142646"/>
            <a:ext cx="6082145" cy="593778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/>
              <a:t>Project Overview &amp; Business Goals</a:t>
            </a:r>
            <a:endParaRPr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167" y="951745"/>
            <a:ext cx="8686800" cy="138434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 smtClean="0">
                <a:solidFill>
                  <a:schemeClr val="accent1"/>
                </a:solidFill>
              </a:rPr>
              <a:t>◎ Primary Purpose</a:t>
            </a:r>
          </a:p>
          <a:p>
            <a:pPr marL="0" indent="0">
              <a:buNone/>
            </a:pPr>
            <a:r>
              <a:rPr lang="en-US" sz="2400" dirty="0" smtClean="0"/>
              <a:t>Identify </a:t>
            </a:r>
            <a:r>
              <a:rPr lang="en-US" sz="2400" dirty="0"/>
              <a:t>the root causes of customer churn to develop data-driven strategies for improving user retention, enhancing service quality, and maximizing customer lifetime value</a:t>
            </a:r>
            <a:endParaRPr lang="en-US" sz="24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7236823" y="30872"/>
            <a:ext cx="1907177" cy="592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solidFill>
                  <a:schemeClr val="accent1"/>
                </a:solidFill>
              </a:rPr>
              <a:t>FITLY ANALYTICS</a:t>
            </a:r>
            <a:endParaRPr lang="en-US" sz="1800" b="1" dirty="0">
              <a:solidFill>
                <a:schemeClr val="accent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84127" y="142646"/>
            <a:ext cx="378822" cy="36933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51409"/>
            <a:ext cx="2743200" cy="3840480"/>
          </a:xfrm>
          <a:prstGeom prst="rect">
            <a:avLst/>
          </a:prstGeom>
          <a:noFill/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miter lim="800000"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</a:rPr>
              <a:t>🎯</a:t>
            </a:r>
            <a:r>
              <a:rPr lang="en-US" sz="2000" b="1" dirty="0">
                <a:solidFill>
                  <a:schemeClr val="accent1"/>
                </a:solidFill>
              </a:rPr>
              <a:t> </a:t>
            </a:r>
            <a:r>
              <a:rPr lang="en-US" sz="2000" b="1" dirty="0"/>
              <a:t>Business </a:t>
            </a:r>
            <a:r>
              <a:rPr lang="en-US" sz="2000" b="1" dirty="0" smtClean="0"/>
              <a:t>Goals</a:t>
            </a:r>
            <a:endParaRPr lang="en-US" sz="2000" b="1" dirty="0"/>
          </a:p>
          <a:p>
            <a:endParaRPr lang="en-US" sz="1000" dirty="0" smtClean="0"/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&gt;</a:t>
            </a:r>
            <a:r>
              <a:rPr lang="en-US" dirty="0" smtClean="0"/>
              <a:t> Reduce </a:t>
            </a:r>
            <a:r>
              <a:rPr lang="en-US" dirty="0"/>
              <a:t>monthly churn rates, focusing on high-risk 'Free' tier </a:t>
            </a:r>
            <a:r>
              <a:rPr lang="en-US" dirty="0" smtClean="0"/>
              <a:t>users.</a:t>
            </a:r>
          </a:p>
          <a:p>
            <a:endParaRPr lang="en-US" sz="1000" dirty="0" smtClean="0"/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&gt;</a:t>
            </a:r>
            <a:r>
              <a:rPr lang="en-US" dirty="0" smtClean="0"/>
              <a:t> Improve </a:t>
            </a:r>
            <a:r>
              <a:rPr lang="en-US" dirty="0"/>
              <a:t>early value realization to secure long-term </a:t>
            </a:r>
            <a:r>
              <a:rPr lang="en-US" dirty="0" smtClean="0"/>
              <a:t>retention.</a:t>
            </a:r>
          </a:p>
          <a:p>
            <a:endParaRPr lang="en-US" sz="1000" dirty="0" smtClean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&gt;</a:t>
            </a:r>
            <a:r>
              <a:rPr lang="en-US" dirty="0" smtClean="0"/>
              <a:t> Establish </a:t>
            </a:r>
            <a:r>
              <a:rPr lang="en-US" dirty="0"/>
              <a:t>leading indicators for an executive monitoring </a:t>
            </a:r>
            <a:r>
              <a:rPr lang="en-US" dirty="0" smtClean="0"/>
              <a:t>dashboard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317967" y="2556355"/>
            <a:ext cx="2743200" cy="3840480"/>
          </a:xfrm>
          <a:prstGeom prst="rect">
            <a:avLst/>
          </a:prstGeom>
          <a:noFill/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miter lim="800000"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 smtClean="0">
                <a:solidFill>
                  <a:srgbClr val="FFC000"/>
                </a:solidFill>
              </a:rPr>
              <a:t>❓</a:t>
            </a:r>
            <a:r>
              <a:rPr lang="en-US" sz="2000" b="1" dirty="0" smtClean="0"/>
              <a:t>Key Questions</a:t>
            </a:r>
            <a:endParaRPr lang="en-US" sz="2000" b="1" dirty="0"/>
          </a:p>
          <a:p>
            <a:endParaRPr lang="en-US" sz="1000" dirty="0" smtClean="0"/>
          </a:p>
          <a:p>
            <a:r>
              <a:rPr lang="en-US" b="1" dirty="0">
                <a:solidFill>
                  <a:srgbClr val="FFC000"/>
                </a:solidFill>
              </a:rPr>
              <a:t>&gt;</a:t>
            </a:r>
            <a:r>
              <a:rPr lang="en-US" dirty="0" smtClean="0"/>
              <a:t> </a:t>
            </a:r>
            <a:r>
              <a:rPr lang="en-US" dirty="0"/>
              <a:t>Which customer segments and subscription tiers churn the most?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FFC000"/>
                </a:solidFill>
              </a:rPr>
              <a:t>&gt;</a:t>
            </a:r>
            <a:r>
              <a:rPr lang="en-US" dirty="0" smtClean="0"/>
              <a:t> What </a:t>
            </a:r>
            <a:r>
              <a:rPr lang="en-US" dirty="0"/>
              <a:t>specific user behaviors signal an imminent departure?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FFC000"/>
                </a:solidFill>
              </a:rPr>
              <a:t>&gt;</a:t>
            </a:r>
            <a:r>
              <a:rPr lang="en-US" dirty="0" smtClean="0"/>
              <a:t> How </a:t>
            </a:r>
            <a:r>
              <a:rPr lang="en-US" dirty="0"/>
              <a:t>does support resolution time impact customer loyalty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8734" y="2551409"/>
            <a:ext cx="2743200" cy="3840480"/>
          </a:xfrm>
          <a:prstGeom prst="rect">
            <a:avLst/>
          </a:prstGeom>
          <a:noFill/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miter lim="800000"/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accent6">
                    <a:lumMod val="75000"/>
                  </a:schemeClr>
                </a:solidFill>
              </a:rPr>
              <a:t>📊</a:t>
            </a:r>
            <a:r>
              <a:rPr lang="en-US" sz="2000" dirty="0" smtClean="0"/>
              <a:t> </a:t>
            </a:r>
            <a:r>
              <a:rPr lang="en-US" sz="2000" b="1" dirty="0" smtClean="0"/>
              <a:t>Success </a:t>
            </a:r>
            <a:r>
              <a:rPr lang="en-US" sz="2000" b="1" dirty="0"/>
              <a:t>Metrics</a:t>
            </a:r>
            <a:endParaRPr lang="en-US" sz="2000" b="1" dirty="0" smtClean="0"/>
          </a:p>
          <a:p>
            <a:endParaRPr lang="en-US" sz="1000" b="1" dirty="0"/>
          </a:p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&gt;</a:t>
            </a:r>
            <a:r>
              <a:rPr lang="en-US" b="1" dirty="0" smtClean="0"/>
              <a:t> Churn </a:t>
            </a:r>
            <a:r>
              <a:rPr lang="en-US" b="1" dirty="0"/>
              <a:t>Rate:</a:t>
            </a:r>
            <a:r>
              <a:rPr lang="en-US" dirty="0"/>
              <a:t> Reduce overall percentage.</a:t>
            </a:r>
          </a:p>
          <a:p>
            <a:endParaRPr lang="en-US" b="1" dirty="0" smtClean="0"/>
          </a:p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&gt;</a:t>
            </a:r>
            <a:r>
              <a:rPr lang="en-US" b="1" dirty="0" smtClean="0"/>
              <a:t> </a:t>
            </a:r>
            <a:r>
              <a:rPr lang="en-US" b="1" dirty="0" err="1" smtClean="0"/>
              <a:t>Avg</a:t>
            </a:r>
            <a:r>
              <a:rPr lang="en-US" b="1" dirty="0" smtClean="0"/>
              <a:t> </a:t>
            </a:r>
            <a:r>
              <a:rPr lang="en-US" b="1" dirty="0"/>
              <a:t>Resolution Time:</a:t>
            </a:r>
            <a:r>
              <a:rPr lang="en-US" dirty="0"/>
              <a:t> Minimize hours to resolve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&gt;</a:t>
            </a:r>
            <a:r>
              <a:rPr lang="en-US" b="1" dirty="0" smtClean="0"/>
              <a:t> Activity </a:t>
            </a:r>
            <a:r>
              <a:rPr lang="en-US" b="1" dirty="0"/>
              <a:t>Levels:</a:t>
            </a:r>
            <a:r>
              <a:rPr lang="en-US" dirty="0"/>
              <a:t> Increase active days &amp; total events.</a:t>
            </a:r>
          </a:p>
          <a:p>
            <a:endParaRPr lang="en-US" b="1" dirty="0" smtClean="0"/>
          </a:p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&gt;</a:t>
            </a:r>
            <a:r>
              <a:rPr lang="en-US" b="1" dirty="0" smtClean="0"/>
              <a:t> </a:t>
            </a:r>
            <a:r>
              <a:rPr lang="en-US" b="1" dirty="0" err="1" smtClean="0"/>
              <a:t>Recency</a:t>
            </a:r>
            <a:r>
              <a:rPr lang="en-US" b="1" dirty="0"/>
              <a:t>:</a:t>
            </a:r>
            <a:r>
              <a:rPr lang="en-US" dirty="0"/>
              <a:t> Decrease days since last activity.</a:t>
            </a:r>
          </a:p>
        </p:txBody>
      </p:sp>
    </p:spTree>
    <p:extLst>
      <p:ext uri="{BB962C8B-B14F-4D97-AF65-F5344CB8AC3E}">
        <p14:creationId xmlns:p14="http://schemas.microsoft.com/office/powerpoint/2010/main" val="2972229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822" y="101241"/>
            <a:ext cx="5874327" cy="593778"/>
          </a:xfrm>
        </p:spPr>
        <p:txBody>
          <a:bodyPr>
            <a:noAutofit/>
          </a:bodyPr>
          <a:lstStyle/>
          <a:p>
            <a:pPr algn="l"/>
            <a:r>
              <a:rPr lang="en-US" sz="3200" b="1" dirty="0"/>
              <a:t>Data &amp; Methodology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7236823" y="30872"/>
            <a:ext cx="1907177" cy="592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solidFill>
                  <a:schemeClr val="accent1"/>
                </a:solidFill>
              </a:rPr>
              <a:t>FITLY ANALYTICS</a:t>
            </a:r>
            <a:endParaRPr lang="en-US" sz="1800" b="1" dirty="0">
              <a:solidFill>
                <a:schemeClr val="accent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84127" y="142646"/>
            <a:ext cx="378822" cy="36933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📈</a:t>
            </a:r>
          </a:p>
        </p:txBody>
      </p:sp>
      <p:sp>
        <p:nvSpPr>
          <p:cNvPr id="4" name="Rectangle 3"/>
          <p:cNvSpPr/>
          <p:nvPr/>
        </p:nvSpPr>
        <p:spPr>
          <a:xfrm>
            <a:off x="2953181" y="3105835"/>
            <a:ext cx="4381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672632" y="771405"/>
            <a:ext cx="1976441" cy="465154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 smtClean="0"/>
              <a:t>Data Sources</a:t>
            </a:r>
            <a:endParaRPr lang="en-US" sz="32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504" y="855899"/>
            <a:ext cx="489608" cy="37440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7504" y="1675511"/>
            <a:ext cx="3140218" cy="14630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Account information </a:t>
            </a:r>
            <a:r>
              <a:rPr lang="en-US" dirty="0" smtClean="0"/>
              <a:t>(400 unique users): features include subscription </a:t>
            </a:r>
            <a:r>
              <a:rPr lang="en-US" dirty="0"/>
              <a:t>plan, pricing, and churn status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161" y="1735224"/>
            <a:ext cx="365760" cy="29674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67822" y="3374276"/>
            <a:ext cx="3140218" cy="147732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Customer support </a:t>
            </a:r>
            <a:r>
              <a:rPr lang="en-US" dirty="0" smtClean="0"/>
              <a:t>(879 </a:t>
            </a:r>
          </a:p>
          <a:p>
            <a:r>
              <a:rPr lang="en-US" dirty="0" smtClean="0"/>
              <a:t>support tickets): features include support </a:t>
            </a:r>
            <a:r>
              <a:rPr lang="en-US" dirty="0"/>
              <a:t>tickets, channels</a:t>
            </a:r>
            <a:r>
              <a:rPr lang="en-US" dirty="0" smtClean="0"/>
              <a:t>, topic, </a:t>
            </a:r>
            <a:r>
              <a:rPr lang="en-US" dirty="0"/>
              <a:t>and resolution time</a:t>
            </a:r>
            <a:endParaRPr lang="en-US" sz="1400" dirty="0" smtClean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172" y="3491725"/>
            <a:ext cx="365760" cy="31010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39703" y="5090606"/>
            <a:ext cx="3140218" cy="109728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User activity </a:t>
            </a:r>
            <a:r>
              <a:rPr lang="en-US" dirty="0" smtClean="0"/>
              <a:t>(445 activity records): features include event types</a:t>
            </a:r>
            <a:r>
              <a:rPr lang="en-US" dirty="0"/>
              <a:t> </a:t>
            </a:r>
            <a:r>
              <a:rPr lang="en-US" dirty="0" smtClean="0"/>
              <a:t>and time.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9792" y="5136326"/>
            <a:ext cx="358140" cy="274320"/>
          </a:xfrm>
          <a:prstGeom prst="rect">
            <a:avLst/>
          </a:prstGeom>
        </p:spPr>
      </p:pic>
      <p:sp>
        <p:nvSpPr>
          <p:cNvPr id="19" name="Title 1"/>
          <p:cNvSpPr txBox="1">
            <a:spLocks/>
          </p:cNvSpPr>
          <p:nvPr/>
        </p:nvSpPr>
        <p:spPr>
          <a:xfrm>
            <a:off x="4225297" y="729011"/>
            <a:ext cx="3910879" cy="4651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 smtClean="0"/>
              <a:t>  Processing Pipeline</a:t>
            </a:r>
            <a:endParaRPr lang="en-US" sz="3200" b="1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4649" y="729011"/>
            <a:ext cx="507740" cy="480295"/>
          </a:xfrm>
          <a:prstGeom prst="rect">
            <a:avLst/>
          </a:prstGeom>
        </p:spPr>
      </p:pic>
      <p:cxnSp>
        <p:nvCxnSpPr>
          <p:cNvPr id="22" name="Straight Connector 21"/>
          <p:cNvCxnSpPr/>
          <p:nvPr/>
        </p:nvCxnSpPr>
        <p:spPr>
          <a:xfrm>
            <a:off x="251113" y="1333879"/>
            <a:ext cx="31402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3592807" y="1333879"/>
            <a:ext cx="53987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592807" y="1526798"/>
            <a:ext cx="5398794" cy="11887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 smtClean="0"/>
              <a:t>Data </a:t>
            </a:r>
            <a:r>
              <a:rPr lang="en-US" b="1" dirty="0"/>
              <a:t>Cleaning &amp; </a:t>
            </a:r>
            <a:r>
              <a:rPr lang="en-US" b="1" dirty="0" smtClean="0"/>
              <a:t>Validation (Preprocessing)</a:t>
            </a:r>
            <a:r>
              <a:rPr lang="en-US" dirty="0" smtClean="0"/>
              <a:t>:</a:t>
            </a:r>
          </a:p>
          <a:p>
            <a:r>
              <a:rPr lang="en-US" dirty="0"/>
              <a:t>T</a:t>
            </a:r>
            <a:r>
              <a:rPr lang="en-US" dirty="0" smtClean="0"/>
              <a:t>o </a:t>
            </a:r>
            <a:r>
              <a:rPr lang="en-US" dirty="0"/>
              <a:t>ensure consistency across </a:t>
            </a:r>
            <a:r>
              <a:rPr lang="en-US" dirty="0" smtClean="0"/>
              <a:t>datasets, I standardized data, handled missing values, and converted data types using mainly Panda’s package in Python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6299" y="1552683"/>
            <a:ext cx="331735" cy="3657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592807" y="2859085"/>
            <a:ext cx="5398794" cy="1828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2. Feature Engineering (transformation):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smtClean="0"/>
              <a:t>Total user events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smtClean="0"/>
              <a:t>Days since last activity (reference date was assumed to be the last event date)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smtClean="0"/>
              <a:t>Activity-level segments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smtClean="0"/>
              <a:t>Average support resolution time </a:t>
            </a:r>
          </a:p>
          <a:p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3596641" y="4830245"/>
            <a:ext cx="5394960" cy="18288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3</a:t>
            </a:r>
            <a:r>
              <a:rPr lang="en-US" b="1" dirty="0" smtClean="0"/>
              <a:t>. Analytical Approach (Insights)</a:t>
            </a:r>
            <a:endParaRPr lang="en-US" sz="1600" b="1" dirty="0" smtClean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T</a:t>
            </a:r>
            <a:r>
              <a:rPr lang="en-US" dirty="0" smtClean="0"/>
              <a:t>o </a:t>
            </a:r>
            <a:r>
              <a:rPr lang="en-US" dirty="0"/>
              <a:t>create a unified customer-level </a:t>
            </a:r>
            <a:r>
              <a:rPr lang="en-US" dirty="0" smtClean="0"/>
              <a:t>dataset, I consolidated </a:t>
            </a:r>
            <a:r>
              <a:rPr lang="en-US" dirty="0"/>
              <a:t>all cleaned features into a master </a:t>
            </a:r>
            <a:r>
              <a:rPr lang="en-US" dirty="0" err="1" smtClean="0"/>
              <a:t>dataframe</a:t>
            </a:r>
            <a:endParaRPr lang="en-US" dirty="0" smtClean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smtClean="0"/>
              <a:t>Assess </a:t>
            </a:r>
            <a:r>
              <a:rPr lang="en-US" dirty="0"/>
              <a:t>relationships between engagement, support experience, and churn</a:t>
            </a:r>
          </a:p>
          <a:p>
            <a:endParaRPr lang="en-US" dirty="0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5218" y="2914188"/>
            <a:ext cx="393895" cy="365760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8871" y="4907726"/>
            <a:ext cx="340242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780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7236823" y="30872"/>
            <a:ext cx="1907177" cy="592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solidFill>
                  <a:schemeClr val="accent1"/>
                </a:solidFill>
              </a:rPr>
              <a:t>FITLY ANALYTICS</a:t>
            </a:r>
            <a:endParaRPr lang="en-US" sz="1800" b="1" dirty="0">
              <a:solidFill>
                <a:schemeClr val="accent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84127" y="142646"/>
            <a:ext cx="378822" cy="36933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📈</a:t>
            </a:r>
          </a:p>
        </p:txBody>
      </p:sp>
      <p:sp>
        <p:nvSpPr>
          <p:cNvPr id="4" name="Rectangle 3"/>
          <p:cNvSpPr/>
          <p:nvPr/>
        </p:nvSpPr>
        <p:spPr>
          <a:xfrm>
            <a:off x="2953181" y="3105835"/>
            <a:ext cx="4381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457197" y="521999"/>
            <a:ext cx="8672080" cy="9021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 smtClean="0"/>
              <a:t>Key Finding #1: High Churn is Concentrated Among Free, Low-Engagement Users</a:t>
            </a:r>
            <a:endParaRPr lang="en-US" sz="32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457199" y="1619812"/>
            <a:ext cx="444731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b="1" dirty="0" smtClean="0"/>
              <a:t>'Free' subscription </a:t>
            </a:r>
            <a:r>
              <a:rPr lang="en-US" dirty="0" smtClean="0"/>
              <a:t>tier shows a disproportionately high churn rate, driven primarily by users with very low engagement</a:t>
            </a:r>
          </a:p>
          <a:p>
            <a:pPr lvl="0"/>
            <a:endParaRPr lang="en-US" dirty="0" smtClean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smtClean="0"/>
              <a:t>Free users with only 1 recorded event</a:t>
            </a:r>
            <a:r>
              <a:rPr lang="en-US" dirty="0"/>
              <a:t> </a:t>
            </a:r>
            <a:r>
              <a:rPr lang="en-US" dirty="0" smtClean="0"/>
              <a:t>exhibit the highest churn risk, with an estimated churn rate of ~</a:t>
            </a:r>
            <a:r>
              <a:rPr lang="en-US" b="1" dirty="0" smtClean="0"/>
              <a:t>46%.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smtClean="0"/>
              <a:t>Paid subscriptions (Pro, Basic, Enterprise) demonstrate significantly stronger retention, with an average churn of ~24%, indicating </a:t>
            </a:r>
            <a:r>
              <a:rPr lang="en-US" dirty="0"/>
              <a:t>higher perceived value and/or better support experiences</a:t>
            </a:r>
            <a:endParaRPr lang="en-US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457197" y="5860473"/>
            <a:ext cx="8503920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Early engagement </a:t>
            </a:r>
            <a:r>
              <a:rPr lang="en-US" dirty="0"/>
              <a:t>and </a:t>
            </a:r>
            <a:r>
              <a:rPr lang="en-US" b="1" dirty="0"/>
              <a:t>onboarding</a:t>
            </a:r>
            <a:r>
              <a:rPr lang="en-US" dirty="0"/>
              <a:t> represent the largest opportunity for churn reduction.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4509" y="1813141"/>
            <a:ext cx="4030807" cy="323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0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7236823" y="30872"/>
            <a:ext cx="1907177" cy="592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solidFill>
                  <a:schemeClr val="accent1"/>
                </a:solidFill>
              </a:rPr>
              <a:t>FITLY ANALYTICS</a:t>
            </a:r>
            <a:endParaRPr lang="en-US" sz="1800" b="1" dirty="0">
              <a:solidFill>
                <a:schemeClr val="accent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84127" y="142646"/>
            <a:ext cx="378822" cy="36933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📈</a:t>
            </a:r>
          </a:p>
        </p:txBody>
      </p:sp>
      <p:sp>
        <p:nvSpPr>
          <p:cNvPr id="4" name="Rectangle 3"/>
          <p:cNvSpPr/>
          <p:nvPr/>
        </p:nvSpPr>
        <p:spPr>
          <a:xfrm>
            <a:off x="2953181" y="3105835"/>
            <a:ext cx="4381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263236" y="511979"/>
            <a:ext cx="8649134" cy="9614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 smtClean="0"/>
              <a:t>Key Finding #2: Churn is driven by Free Plan Usage and Support Experience</a:t>
            </a:r>
            <a:endParaRPr lang="en-US" sz="32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457199" y="1707766"/>
            <a:ext cx="4031673" cy="3749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The number of support tickets alone does not strongly predict </a:t>
            </a:r>
            <a:r>
              <a:rPr lang="en-US" dirty="0" smtClean="0"/>
              <a:t>churn</a:t>
            </a:r>
          </a:p>
          <a:p>
            <a:pPr lvl="0"/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churned </a:t>
            </a:r>
            <a:r>
              <a:rPr lang="en-US" dirty="0"/>
              <a:t>users consistently experience longer resolution </a:t>
            </a:r>
            <a:r>
              <a:rPr lang="en-US" dirty="0" smtClean="0"/>
              <a:t>times </a:t>
            </a:r>
            <a:r>
              <a:rPr lang="en-US" dirty="0"/>
              <a:t>than retained </a:t>
            </a:r>
            <a:r>
              <a:rPr lang="en-US" dirty="0" smtClean="0"/>
              <a:t>users </a:t>
            </a:r>
            <a:r>
              <a:rPr lang="en-US" dirty="0"/>
              <a:t>within the same subscription </a:t>
            </a:r>
            <a:r>
              <a:rPr lang="en-US" dirty="0" smtClean="0"/>
              <a:t>plans. </a:t>
            </a:r>
            <a:r>
              <a:rPr lang="en-US" dirty="0"/>
              <a:t>Free-tier users have the highest resolution time of ~10.8 </a:t>
            </a:r>
            <a:r>
              <a:rPr lang="en-US" dirty="0" smtClean="0"/>
              <a:t>hours</a:t>
            </a:r>
          </a:p>
          <a:p>
            <a:endParaRPr lang="en-US" dirty="0" smtClean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</a:t>
            </a:r>
            <a:r>
              <a:rPr lang="en-US" b="1" dirty="0" smtClean="0"/>
              <a:t> </a:t>
            </a:r>
            <a:r>
              <a:rPr lang="en-US" dirty="0"/>
              <a:t>a</a:t>
            </a:r>
            <a:r>
              <a:rPr lang="en-US" dirty="0" smtClean="0"/>
              <a:t>verage support resolution time among inactive users is approximately 17 hours, compared to only about 6 hours among retained customers</a:t>
            </a:r>
          </a:p>
          <a:p>
            <a:pPr lvl="0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803" y="1707766"/>
            <a:ext cx="431847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199" y="5641091"/>
            <a:ext cx="8503920" cy="9233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Users on the </a:t>
            </a:r>
            <a:r>
              <a:rPr lang="en-US" b="1" dirty="0"/>
              <a:t>Free subscription plan</a:t>
            </a:r>
            <a:r>
              <a:rPr lang="en-US" dirty="0"/>
              <a:t>, particularly those with </a:t>
            </a:r>
            <a:r>
              <a:rPr lang="en-US" b="1" dirty="0"/>
              <a:t>low engagement and slower support responsiveness</a:t>
            </a:r>
            <a:r>
              <a:rPr lang="en-US" dirty="0"/>
              <a:t>, exhibit a </a:t>
            </a:r>
            <a:r>
              <a:rPr lang="en-US" b="1" dirty="0"/>
              <a:t>significantly higher risk of churn</a:t>
            </a:r>
            <a:r>
              <a:rPr lang="en-US" dirty="0"/>
              <a:t> compared to paid subscribers.</a:t>
            </a:r>
          </a:p>
        </p:txBody>
      </p:sp>
    </p:spTree>
    <p:extLst>
      <p:ext uri="{BB962C8B-B14F-4D97-AF65-F5344CB8AC3E}">
        <p14:creationId xmlns:p14="http://schemas.microsoft.com/office/powerpoint/2010/main" val="3184581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7236823" y="30872"/>
            <a:ext cx="1907177" cy="592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solidFill>
                  <a:schemeClr val="accent1"/>
                </a:solidFill>
              </a:rPr>
              <a:t>FITLY ANALYTICS</a:t>
            </a:r>
            <a:endParaRPr lang="en-US" sz="1800" b="1" dirty="0">
              <a:solidFill>
                <a:schemeClr val="accent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84127" y="142646"/>
            <a:ext cx="378822" cy="36933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📈</a:t>
            </a:r>
          </a:p>
        </p:txBody>
      </p:sp>
      <p:sp>
        <p:nvSpPr>
          <p:cNvPr id="4" name="Rectangle 3"/>
          <p:cNvSpPr/>
          <p:nvPr/>
        </p:nvSpPr>
        <p:spPr>
          <a:xfrm>
            <a:off x="2953181" y="3105835"/>
            <a:ext cx="4381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457200" y="623752"/>
            <a:ext cx="7989148" cy="7938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 smtClean="0"/>
              <a:t>Key Finding #3: Higher Engagement Strongly Improves Retention</a:t>
            </a:r>
            <a:endParaRPr lang="en-US" sz="32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044" y="1534965"/>
            <a:ext cx="4738254" cy="34747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1870364"/>
            <a:ext cx="3657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Retained users exhibit significantly higher activity levels than churned </a:t>
            </a:r>
            <a:r>
              <a:rPr lang="en-US" dirty="0" smtClean="0"/>
              <a:t>users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smtClean="0"/>
              <a:t>On </a:t>
            </a:r>
            <a:r>
              <a:rPr lang="en-US" dirty="0"/>
              <a:t>average, retained users have approximately four times more recorded </a:t>
            </a:r>
            <a:r>
              <a:rPr lang="en-US" dirty="0" smtClean="0"/>
              <a:t>events</a:t>
            </a:r>
          </a:p>
          <a:p>
            <a:pPr lvl="0"/>
            <a:endParaRPr lang="en-US" dirty="0" smtClean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smtClean="0"/>
              <a:t>Churn </a:t>
            </a:r>
            <a:r>
              <a:rPr lang="en-US" dirty="0"/>
              <a:t>rates decrease sharply as engagement increases</a:t>
            </a:r>
          </a:p>
          <a:p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72378" y="5726934"/>
            <a:ext cx="8503920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Even modest </a:t>
            </a:r>
            <a:r>
              <a:rPr lang="en-US" b="1" dirty="0"/>
              <a:t>increases in user engagement </a:t>
            </a:r>
            <a:r>
              <a:rPr lang="en-US" dirty="0"/>
              <a:t>are associated with substantial </a:t>
            </a:r>
            <a:r>
              <a:rPr lang="en-US" b="1" dirty="0"/>
              <a:t>improvements in retention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53011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7236823" y="30872"/>
            <a:ext cx="1907177" cy="592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solidFill>
                  <a:schemeClr val="accent1"/>
                </a:solidFill>
              </a:rPr>
              <a:t>FITLY ANALYTICS</a:t>
            </a:r>
            <a:endParaRPr lang="en-US" sz="1800" b="1" dirty="0">
              <a:solidFill>
                <a:schemeClr val="accent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84127" y="142646"/>
            <a:ext cx="378822" cy="36933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📈</a:t>
            </a:r>
          </a:p>
        </p:txBody>
      </p:sp>
      <p:sp>
        <p:nvSpPr>
          <p:cNvPr id="4" name="Rectangle 3"/>
          <p:cNvSpPr/>
          <p:nvPr/>
        </p:nvSpPr>
        <p:spPr>
          <a:xfrm>
            <a:off x="2953181" y="3105835"/>
            <a:ext cx="4381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317914" y="623752"/>
            <a:ext cx="8583935" cy="8448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 smtClean="0"/>
              <a:t>Key Finding #4: User Inactivity is a Strong Predictor of </a:t>
            </a:r>
            <a:r>
              <a:rPr lang="en-US" sz="3200" b="1" dirty="0"/>
              <a:t>Churn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749529"/>
            <a:ext cx="3657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Churned users show much longer periods of inactivity prior to </a:t>
            </a:r>
            <a:r>
              <a:rPr lang="en-US" dirty="0" smtClean="0"/>
              <a:t>leaving</a:t>
            </a:r>
          </a:p>
          <a:p>
            <a:pPr lvl="0"/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mean number of days since last activity among inactive users is approximately </a:t>
            </a:r>
            <a:r>
              <a:rPr lang="en-US" b="1" dirty="0" smtClean="0"/>
              <a:t>86, </a:t>
            </a:r>
            <a:r>
              <a:rPr lang="en-US" dirty="0" smtClean="0"/>
              <a:t>compared to </a:t>
            </a:r>
            <a:r>
              <a:rPr lang="en-US" b="1" dirty="0" smtClean="0"/>
              <a:t>54 </a:t>
            </a:r>
            <a:r>
              <a:rPr lang="en-US" dirty="0" smtClean="0"/>
              <a:t>for retained customers.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Prolonged </a:t>
            </a:r>
            <a:r>
              <a:rPr lang="en-US" dirty="0"/>
              <a:t>inactivity is a strong early signal that a user is at risk of </a:t>
            </a:r>
            <a:r>
              <a:rPr lang="en-US" dirty="0" smtClean="0"/>
              <a:t>churn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712" y="1720329"/>
            <a:ext cx="4582137" cy="3474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49636"/>
            <a:ext cx="850392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Churn</a:t>
            </a:r>
            <a:r>
              <a:rPr lang="en-US" dirty="0"/>
              <a:t> is rarely sudden; it is typically preceded by </a:t>
            </a:r>
            <a:r>
              <a:rPr lang="en-US" b="1" dirty="0"/>
              <a:t>disengagement</a:t>
            </a:r>
            <a:r>
              <a:rPr lang="en-US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432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7236823" y="30872"/>
            <a:ext cx="1907177" cy="592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solidFill>
                  <a:schemeClr val="accent1"/>
                </a:solidFill>
              </a:rPr>
              <a:t>FITLY ANALYTICS</a:t>
            </a:r>
            <a:endParaRPr lang="en-US" sz="1800" b="1" dirty="0">
              <a:solidFill>
                <a:schemeClr val="accent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84127" y="142646"/>
            <a:ext cx="378822" cy="36933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📈</a:t>
            </a:r>
          </a:p>
        </p:txBody>
      </p:sp>
      <p:sp>
        <p:nvSpPr>
          <p:cNvPr id="4" name="Rectangle 3"/>
          <p:cNvSpPr/>
          <p:nvPr/>
        </p:nvSpPr>
        <p:spPr>
          <a:xfrm>
            <a:off x="2953181" y="3105835"/>
            <a:ext cx="4381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1003650" y="511978"/>
            <a:ext cx="5334740" cy="5990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🎯</a:t>
            </a:r>
            <a:r>
              <a:rPr lang="en-US" sz="3200" b="1" dirty="0" smtClean="0"/>
              <a:t>Key Metrics to Monitor</a:t>
            </a:r>
            <a:endParaRPr lang="en-US" sz="32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003650" y="1720841"/>
            <a:ext cx="7142823" cy="203132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Retention: </a:t>
            </a:r>
            <a:r>
              <a:rPr lang="en-US" dirty="0" smtClean="0"/>
              <a:t>Churn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Support:</a:t>
            </a:r>
            <a:r>
              <a:rPr lang="en-US" dirty="0" smtClean="0"/>
              <a:t> Average resolution time in hours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Engagement: </a:t>
            </a:r>
            <a:r>
              <a:rPr lang="en-US" dirty="0" smtClean="0"/>
              <a:t>Active days per week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Risk signal: </a:t>
            </a:r>
            <a:r>
              <a:rPr lang="en-US" dirty="0" smtClean="0"/>
              <a:t>Days since last activity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224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7236823" y="30872"/>
            <a:ext cx="1907177" cy="592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solidFill>
                  <a:schemeClr val="accent1"/>
                </a:solidFill>
              </a:rPr>
              <a:t>FITLY ANALYTICS</a:t>
            </a:r>
            <a:endParaRPr lang="en-US" sz="1800" b="1" dirty="0">
              <a:solidFill>
                <a:schemeClr val="accent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84127" y="142646"/>
            <a:ext cx="378822" cy="36933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📈</a:t>
            </a:r>
          </a:p>
        </p:txBody>
      </p:sp>
      <p:sp>
        <p:nvSpPr>
          <p:cNvPr id="4" name="Rectangle 3"/>
          <p:cNvSpPr/>
          <p:nvPr/>
        </p:nvSpPr>
        <p:spPr>
          <a:xfrm>
            <a:off x="2953181" y="3105835"/>
            <a:ext cx="4381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249382" y="539668"/>
            <a:ext cx="5542558" cy="5990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 smtClean="0"/>
              <a:t>Strategic Recommendations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9382" y="1281546"/>
            <a:ext cx="8686800" cy="4572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300" b="1" dirty="0" smtClean="0"/>
              <a:t>1. Implement an early-warning churn system</a:t>
            </a:r>
            <a:endParaRPr lang="en-US" sz="2300" b="1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300" dirty="0"/>
              <a:t>Flag users who have been inactive for over 30 days, for example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300" dirty="0"/>
              <a:t>Trigger </a:t>
            </a:r>
            <a:r>
              <a:rPr lang="en-US" sz="2300" dirty="0"/>
              <a:t>automated or personalized re-engagement </a:t>
            </a:r>
            <a:r>
              <a:rPr lang="en-US" sz="2300" dirty="0"/>
              <a:t>efforts</a:t>
            </a:r>
            <a:endParaRPr lang="en-US" sz="2300" dirty="0"/>
          </a:p>
          <a:p>
            <a:pPr lvl="1">
              <a:buFont typeface="Courier New" panose="02070309020205020404" pitchFamily="49" charset="0"/>
              <a:buChar char="o"/>
            </a:pPr>
            <a:endParaRPr lang="en-US" sz="2600" dirty="0" smtClean="0"/>
          </a:p>
          <a:p>
            <a:pPr marL="0" indent="0">
              <a:buNone/>
            </a:pPr>
            <a:r>
              <a:rPr lang="en-US" sz="2300" b="1" dirty="0" smtClean="0"/>
              <a:t>2.</a:t>
            </a:r>
            <a:r>
              <a:rPr lang="en-US" sz="2300" dirty="0" smtClean="0"/>
              <a:t> </a:t>
            </a:r>
            <a:r>
              <a:rPr lang="en-US" sz="2300" b="1" dirty="0" smtClean="0"/>
              <a:t>Strengthen Early User Engagement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300" dirty="0"/>
              <a:t>Improve </a:t>
            </a:r>
            <a:r>
              <a:rPr lang="en-US" sz="2300" dirty="0"/>
              <a:t>onboarding experiences, particularly for Free and Basic </a:t>
            </a:r>
            <a:r>
              <a:rPr lang="en-US" sz="2300" dirty="0"/>
              <a:t>users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300" dirty="0"/>
              <a:t>Encourage at least 2–3 meaningful actions during the initial usage </a:t>
            </a:r>
            <a:r>
              <a:rPr lang="en-US" sz="2300" dirty="0" smtClean="0"/>
              <a:t>period</a:t>
            </a:r>
          </a:p>
          <a:p>
            <a:pPr marL="0" lvl="0" indent="0">
              <a:buNone/>
            </a:pPr>
            <a:endParaRPr lang="en-US" b="1" dirty="0" smtClean="0"/>
          </a:p>
          <a:p>
            <a:pPr marL="0" lvl="0" indent="0">
              <a:buNone/>
            </a:pPr>
            <a:r>
              <a:rPr lang="en-US" sz="2300" b="1" dirty="0" smtClean="0"/>
              <a:t>3</a:t>
            </a:r>
            <a:r>
              <a:rPr lang="en-US" sz="2300" b="1" dirty="0"/>
              <a:t>. Prioritize Support Speed for At-Risk Users</a:t>
            </a:r>
            <a:endParaRPr lang="en-US" sz="18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300" dirty="0"/>
              <a:t>Fast-track</a:t>
            </a:r>
            <a:r>
              <a:rPr lang="en-US" sz="2600" dirty="0"/>
              <a:t> </a:t>
            </a:r>
            <a:r>
              <a:rPr lang="en-US" sz="2300" dirty="0"/>
              <a:t>support tickets for inactive or high-value users</a:t>
            </a:r>
            <a:endParaRPr lang="en-US" sz="15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300" dirty="0"/>
              <a:t>Introduce resolution-time Service Level Agreements (SLAs) aligned with churn risk</a:t>
            </a:r>
            <a:endParaRPr lang="en-US" sz="1500" dirty="0"/>
          </a:p>
          <a:p>
            <a:pPr marL="0" lv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2300" b="1" dirty="0"/>
              <a:t>4. Align Teams Around Engagement Metrics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300" dirty="0"/>
              <a:t>Use shared metrics across product, support, and marketing teams</a:t>
            </a:r>
            <a:endParaRPr lang="en-US" sz="14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300" dirty="0"/>
              <a:t>Focus on preventing disengagement rather than reacting to churn</a:t>
            </a:r>
            <a:endParaRPr lang="en-US" sz="1400" dirty="0"/>
          </a:p>
          <a:p>
            <a:pPr lvl="1">
              <a:buFont typeface="Courier New" panose="02070309020205020404" pitchFamily="49" charset="0"/>
              <a:buChar char="o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26500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7236823" y="30872"/>
            <a:ext cx="1907177" cy="592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solidFill>
                  <a:schemeClr val="accent1"/>
                </a:solidFill>
              </a:rPr>
              <a:t>FITLY ANALYTICS</a:t>
            </a:r>
            <a:endParaRPr lang="en-US" sz="1800" b="1" dirty="0">
              <a:solidFill>
                <a:schemeClr val="accent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84127" y="142646"/>
            <a:ext cx="378822" cy="36933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📈</a:t>
            </a:r>
          </a:p>
        </p:txBody>
      </p:sp>
      <p:sp>
        <p:nvSpPr>
          <p:cNvPr id="4" name="Rectangle 3"/>
          <p:cNvSpPr/>
          <p:nvPr/>
        </p:nvSpPr>
        <p:spPr>
          <a:xfrm>
            <a:off x="2953181" y="3105835"/>
            <a:ext cx="4381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249381" y="142646"/>
            <a:ext cx="5542559" cy="5990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 smtClean="0"/>
              <a:t>Conclusion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9381" y="868680"/>
            <a:ext cx="8686800" cy="512064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1800" dirty="0" smtClean="0"/>
              <a:t>Churn </a:t>
            </a:r>
            <a:r>
              <a:rPr lang="en-US" sz="1800" dirty="0"/>
              <a:t>is primarily driven by disengagement. Users who churn are heavily concentrated among those with very low activity and long periods of </a:t>
            </a:r>
            <a:r>
              <a:rPr lang="en-US" sz="1800" dirty="0" smtClean="0"/>
              <a:t>inactivity.</a:t>
            </a:r>
          </a:p>
          <a:p>
            <a:r>
              <a:rPr lang="en-US" sz="1800" dirty="0" smtClean="0"/>
              <a:t>Inactivity </a:t>
            </a:r>
            <a:r>
              <a:rPr lang="en-US" sz="1800" dirty="0"/>
              <a:t>is a strong early warning signal. The number of days since last activity increases markedly prior to churn, indicating that users often disengage well before formally </a:t>
            </a:r>
            <a:r>
              <a:rPr lang="en-US" sz="1800" dirty="0" smtClean="0"/>
              <a:t>leaving.</a:t>
            </a:r>
          </a:p>
          <a:p>
            <a:r>
              <a:rPr lang="en-US" sz="1800" dirty="0" smtClean="0"/>
              <a:t>Engagement </a:t>
            </a:r>
            <a:r>
              <a:rPr lang="en-US" sz="1800" dirty="0"/>
              <a:t>protects against churn. Even modest increases in user activity and early activation are associated with significantly higher </a:t>
            </a:r>
            <a:r>
              <a:rPr lang="en-US" sz="1800" dirty="0" smtClean="0"/>
              <a:t>retention.</a:t>
            </a:r>
          </a:p>
          <a:p>
            <a:r>
              <a:rPr lang="en-US" sz="1800" dirty="0" smtClean="0"/>
              <a:t>Support </a:t>
            </a:r>
            <a:r>
              <a:rPr lang="en-US" sz="1800" dirty="0"/>
              <a:t>volume alone does not predict churn. Users who contact support appear in both retained and churned groups, with no clear linear relationship between ticket volume and </a:t>
            </a:r>
            <a:r>
              <a:rPr lang="en-US" sz="1800" dirty="0" smtClean="0"/>
              <a:t>churn.</a:t>
            </a:r>
          </a:p>
          <a:p>
            <a:r>
              <a:rPr lang="en-US" sz="1800" dirty="0" smtClean="0"/>
              <a:t>Support </a:t>
            </a:r>
            <a:r>
              <a:rPr lang="en-US" sz="1800" dirty="0"/>
              <a:t>quality matters more than quantity. Longer resolution times are more common among churned users within the same plan, suggesting that responsiveness and effectiveness of support may moderate churn </a:t>
            </a:r>
            <a:r>
              <a:rPr lang="en-US" sz="1800" dirty="0" smtClean="0"/>
              <a:t>risk.</a:t>
            </a:r>
          </a:p>
          <a:p>
            <a:r>
              <a:rPr lang="en-US" sz="1800" dirty="0"/>
              <a:t>R</a:t>
            </a:r>
            <a:r>
              <a:rPr lang="en-US" sz="1800" dirty="0" smtClean="0"/>
              <a:t>etention </a:t>
            </a:r>
            <a:r>
              <a:rPr lang="en-US" sz="1800" dirty="0"/>
              <a:t>is best improved by increasing early engagement and proactively re-engaging inactive users, while focusing support efforts on faster and higher-quality issue resolution rather than reducing ticket volume.</a:t>
            </a:r>
          </a:p>
        </p:txBody>
      </p:sp>
    </p:spTree>
    <p:extLst>
      <p:ext uri="{BB962C8B-B14F-4D97-AF65-F5344CB8AC3E}">
        <p14:creationId xmlns:p14="http://schemas.microsoft.com/office/powerpoint/2010/main" val="3767870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1862</TotalTime>
  <Words>982</Words>
  <Application>Microsoft Office PowerPoint</Application>
  <PresentationFormat>On-screen Show (4:3)</PresentationFormat>
  <Paragraphs>134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Customer Churn Analysis</vt:lpstr>
      <vt:lpstr>Project Overview &amp; Business Goals</vt:lpstr>
      <vt:lpstr>Data &amp; Methodology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&amp; Engagement Analysis</dc:title>
  <dc:subject/>
  <dc:creator>Tarek</dc:creator>
  <cp:keywords/>
  <dc:description>generated using python-pptx</dc:description>
  <cp:lastModifiedBy>Maher Fattouh</cp:lastModifiedBy>
  <cp:revision>57</cp:revision>
  <dcterms:created xsi:type="dcterms:W3CDTF">2013-01-27T09:14:16Z</dcterms:created>
  <dcterms:modified xsi:type="dcterms:W3CDTF">2026-02-03T20:21:55Z</dcterms:modified>
  <cp:category/>
</cp:coreProperties>
</file>